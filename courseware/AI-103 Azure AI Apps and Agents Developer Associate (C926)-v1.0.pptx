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AI-103 Microsoft Certified Azure AI Apps and Agents Developer Associate (C926)</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C926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11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Tertiary Infotech Academy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Days 1–2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Foundry Planning, Grounded Generation and Agents</a:t>
            </a:r>
          </a:p>
          <a:p>
            <a:pPr>
              <a:spcAft>
                <a:spcPts val="1000"/>
              </a:spcAft>
            </a:pPr>
            <a:r>
              <a:rPr sz="1400" b="0">
                <a:solidFill>
                  <a:srgbClr val="5B6372"/>
                </a:solidFill>
                <a:latin typeface="Arial"/>
              </a:rPr>
              <a:t>–  Topic 1: Plan and Manage an Azure AI Solution (Labs 1–2)</a:t>
            </a:r>
          </a:p>
          <a:p>
            <a:pPr>
              <a:spcAft>
                <a:spcPts val="1000"/>
              </a:spcAft>
            </a:pPr>
            <a:r>
              <a:rPr sz="1400" b="0">
                <a:solidFill>
                  <a:srgbClr val="5B6372"/>
                </a:solidFill>
                <a:latin typeface="Arial"/>
              </a:rPr>
              <a:t>–  Topic 2: Implement Generative AI and Agentic Solutions (Labs 3–5)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Multimodal, Text, Extraction and Retrieval Solutions</a:t>
            </a:r>
          </a:p>
          <a:p>
            <a:pPr>
              <a:spcAft>
                <a:spcPts val="1000"/>
              </a:spcAft>
            </a:pPr>
            <a:r>
              <a:rPr sz="1400" b="0">
                <a:solidFill>
                  <a:srgbClr val="5B6372"/>
                </a:solidFill>
                <a:latin typeface="Arial"/>
              </a:rPr>
              <a:t>–  Topic 3: Implement Computer Vision Solutions (Lab 6)</a:t>
            </a:r>
          </a:p>
          <a:p>
            <a:pPr>
              <a:spcAft>
                <a:spcPts val="1000"/>
              </a:spcAft>
            </a:pPr>
            <a:r>
              <a:rPr sz="1400" b="0">
                <a:solidFill>
                  <a:srgbClr val="5B6372"/>
                </a:solidFill>
                <a:latin typeface="Arial"/>
              </a:rPr>
              <a:t>–  Topic 4: Implement Text Analysis Solutions (Lab 7)</a:t>
            </a:r>
          </a:p>
          <a:p>
            <a:pPr>
              <a:spcAft>
                <a:spcPts val="1000"/>
              </a:spcAft>
            </a:pPr>
            <a:r>
              <a:rPr sz="1400" b="0">
                <a:solidFill>
                  <a:srgbClr val="5B6372"/>
                </a:solidFill>
                <a:latin typeface="Arial"/>
              </a:rPr>
              <a:t>–  Topic 5: Implement Information Extraction Solutions (Labs 8–9)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Plan &amp; Govern</a:t>
            </a:r>
          </a:p>
          <a:p>
            <a:pPr algn="l">
              <a:spcAft>
                <a:spcPts val="300"/>
              </a:spcAft>
            </a:pPr>
            <a:r>
              <a:rPr sz="1600" b="0">
                <a:solidFill>
                  <a:srgbClr val="5B6372"/>
                </a:solidFill>
                <a:latin typeface="Arial"/>
              </a:rPr>
              <a:t>Plan a secure, responsible and operable Microsoft Foundry solution by selecting suitable models, services, deployment patterns and controls.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Generative Apps</a:t>
            </a:r>
          </a:p>
          <a:p>
            <a:pPr algn="l">
              <a:spcAft>
                <a:spcPts val="300"/>
              </a:spcAft>
            </a:pPr>
            <a:r>
              <a:rPr sz="1600" b="0">
                <a:solidFill>
                  <a:srgbClr val="5B6372"/>
                </a:solidFill>
                <a:latin typeface="Arial"/>
              </a:rPr>
              <a:t>Build grounded generative applications with Microsoft Foundry, retrieval patterns, structured prompts and repeatable quality checks.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Agents</a:t>
            </a:r>
          </a:p>
          <a:p>
            <a:pPr algn="l">
              <a:spcAft>
                <a:spcPts val="300"/>
              </a:spcAft>
            </a:pPr>
            <a:r>
              <a:rPr sz="1600" b="0">
                <a:solidFill>
                  <a:srgbClr val="5B6372"/>
                </a:solidFill>
                <a:latin typeface="Arial"/>
              </a:rPr>
              <a:t>Build and operationalize tool-using and multi-agent solutions with bounded roles, approval controls, tracing and error analysis.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Vision</a:t>
            </a:r>
          </a:p>
          <a:p>
            <a:pPr algn="l">
              <a:spcAft>
                <a:spcPts val="300"/>
              </a:spcAft>
            </a:pPr>
            <a:r>
              <a:rPr sz="1600" b="0">
                <a:solidFill>
                  <a:srgbClr val="5B6372"/>
                </a:solidFill>
                <a:latin typeface="Arial"/>
              </a:rPr>
              <a:t>Implement multimodal computer-vision workflows for generation, understanding, accessibility and visual safety.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Text &amp; Speech</a:t>
            </a:r>
          </a:p>
          <a:p>
            <a:pPr algn="l">
              <a:spcAft>
                <a:spcPts val="300"/>
              </a:spcAft>
            </a:pPr>
            <a:r>
              <a:rPr sz="1600" b="0">
                <a:solidFill>
                  <a:srgbClr val="5B6372"/>
                </a:solidFill>
                <a:latin typeface="Arial"/>
              </a:rPr>
              <a:t>Implement text, translation and speech workflows that return reliable structured outputs and handle language-specific limitations.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Extraction &amp; Search</a:t>
            </a:r>
          </a:p>
          <a:p>
            <a:pPr algn="l">
              <a:spcAft>
                <a:spcPts val="300"/>
              </a:spcAft>
            </a:pPr>
            <a:r>
              <a:rPr sz="1600" b="0">
                <a:solidFill>
                  <a:srgbClr val="5B6372"/>
                </a:solidFill>
                <a:latin typeface="Arial"/>
              </a:rPr>
              <a:t>Implement information-extraction and retrieval pipelines with OCR, Content Understanding, Azure AI Search and grounded outputs.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6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 Azure AI Apps and Agents as Operable Systems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AI Solution Stack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Experience</a:t>
            </a:r>
          </a:p>
          <a:p>
            <a:pPr algn="l">
              <a:spcAft>
                <a:spcPts val="300"/>
              </a:spcAft>
            </a:pPr>
            <a:r>
              <a:rPr sz="1600" b="0">
                <a:solidFill>
                  <a:srgbClr val="5B6372"/>
                </a:solidFill>
                <a:latin typeface="Arial"/>
              </a:rPr>
              <a:t>User inputs, multimodal interactions and accessible outputs.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Models</a:t>
            </a:r>
          </a:p>
          <a:p>
            <a:pPr algn="l">
              <a:spcAft>
                <a:spcPts val="300"/>
              </a:spcAft>
            </a:pPr>
            <a:r>
              <a:rPr sz="1600" b="0">
                <a:solidFill>
                  <a:srgbClr val="5B6372"/>
                </a:solidFill>
                <a:latin typeface="Arial"/>
              </a:rPr>
              <a:t>Task-fit language, code, image, audio and multimodal deployments.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Knowledge</a:t>
            </a:r>
          </a:p>
          <a:p>
            <a:pPr algn="l">
              <a:spcAft>
                <a:spcPts val="300"/>
              </a:spcAft>
            </a:pPr>
            <a:r>
              <a:rPr sz="1600" b="0">
                <a:solidFill>
                  <a:srgbClr val="5B6372"/>
                </a:solidFill>
                <a:latin typeface="Arial"/>
              </a:rPr>
              <a:t>Extraction, indexes, retrieval and evidence-bound generation.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Agents</a:t>
            </a:r>
          </a:p>
          <a:p>
            <a:pPr algn="l">
              <a:spcAft>
                <a:spcPts val="300"/>
              </a:spcAft>
            </a:pPr>
            <a:r>
              <a:rPr sz="1600" b="0">
                <a:solidFill>
                  <a:srgbClr val="5B6372"/>
                </a:solidFill>
                <a:latin typeface="Arial"/>
              </a:rPr>
              <a:t>Roles, tools, memory, delegation and approval controls.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Guardrails</a:t>
            </a:r>
          </a:p>
          <a:p>
            <a:pPr algn="l">
              <a:spcAft>
                <a:spcPts val="300"/>
              </a:spcAft>
            </a:pPr>
            <a:r>
              <a:rPr sz="1600" b="0">
                <a:solidFill>
                  <a:srgbClr val="5B6372"/>
                </a:solidFill>
                <a:latin typeface="Arial"/>
              </a:rPr>
              <a:t>Identity, filters, policy, provenance and human oversight.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Operations</a:t>
            </a:r>
          </a:p>
          <a:p>
            <a:pPr algn="l">
              <a:spcAft>
                <a:spcPts val="300"/>
              </a:spcAft>
            </a:pPr>
            <a:r>
              <a:rPr sz="1600" b="0">
                <a:solidFill>
                  <a:srgbClr val="5B6372"/>
                </a:solidFill>
                <a:latin typeface="Arial"/>
              </a:rPr>
              <a:t>Evaluation, traces, capacity, cost, CI/CD and incident response.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GROUND Solution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Goal</a:t>
            </a:r>
          </a:p>
          <a:p>
            <a:pPr algn="l">
              <a:spcAft>
                <a:spcPts val="300"/>
              </a:spcAft>
            </a:pPr>
            <a:r>
              <a:rPr sz="1600" b="0">
                <a:solidFill>
                  <a:srgbClr val="5B6372"/>
                </a:solidFill>
                <a:latin typeface="Arial"/>
              </a:rPr>
              <a:t>Define the user outcome, system boundary and quality threshold.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Resources</a:t>
            </a:r>
          </a:p>
          <a:p>
            <a:pPr algn="l">
              <a:spcAft>
                <a:spcPts val="300"/>
              </a:spcAft>
            </a:pPr>
            <a:r>
              <a:rPr sz="1600" b="0">
                <a:solidFill>
                  <a:srgbClr val="5B6372"/>
                </a:solidFill>
                <a:latin typeface="Arial"/>
              </a:rPr>
              <a:t>Choose Foundry models, tools, retrieval and deployment pattern.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Ownership</a:t>
            </a:r>
          </a:p>
          <a:p>
            <a:pPr algn="l">
              <a:spcAft>
                <a:spcPts val="300"/>
              </a:spcAft>
            </a:pPr>
            <a:r>
              <a:rPr sz="1600" b="0">
                <a:solidFill>
                  <a:srgbClr val="5B6372"/>
                </a:solidFill>
                <a:latin typeface="Arial"/>
              </a:rPr>
              <a:t>Assign identities, data owners, operators and review authority.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Understanding</a:t>
            </a:r>
          </a:p>
          <a:p>
            <a:pPr algn="l">
              <a:spcAft>
                <a:spcPts val="300"/>
              </a:spcAft>
            </a:pPr>
            <a:r>
              <a:rPr sz="1600" b="0">
                <a:solidFill>
                  <a:srgbClr val="5B6372"/>
                </a:solidFill>
                <a:latin typeface="Arial"/>
              </a:rPr>
              <a:t>Extract, retrieve and preserve evidence across modalities.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Navigation</a:t>
            </a:r>
          </a:p>
          <a:p>
            <a:pPr algn="l">
              <a:spcAft>
                <a:spcPts val="300"/>
              </a:spcAft>
            </a:pPr>
            <a:r>
              <a:rPr sz="1600" b="0">
                <a:solidFill>
                  <a:srgbClr val="5B6372"/>
                </a:solidFill>
                <a:latin typeface="Arial"/>
              </a:rPr>
              <a:t>Route prompts, tools and specialist agents through bounded contracts.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Defence</a:t>
            </a:r>
          </a:p>
          <a:p>
            <a:pPr algn="l">
              <a:spcAft>
                <a:spcPts val="300"/>
              </a:spcAft>
            </a:pPr>
            <a:r>
              <a:rPr sz="1600" b="0">
                <a:solidFill>
                  <a:srgbClr val="5B6372"/>
                </a:solidFill>
                <a:latin typeface="Arial"/>
              </a:rPr>
              <a:t>Evaluate, trace, guard, recover and continuously improve.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CORE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Production AI is an evidence-and-control system, not a single model call.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Reliable outcomes come from task-fit models, grounded context, bounded tools, explicit identities, measurable quality and disciplined operations.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Connected Northstar Support Solution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Plan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Architecture and service-selection record</a:t>
            </a:r>
          </a:p>
          <a:p>
            <a:pPr>
              <a:spcAft>
                <a:spcPts val="900"/>
              </a:spcAft>
            </a:pPr>
            <a:r>
              <a:rPr sz="1400" b="0">
                <a:solidFill>
                  <a:srgbClr val="161B26"/>
                </a:solidFill>
                <a:latin typeface="Arial"/>
              </a:rPr>
              <a:t>•  Identity, cost, safety and monitoring controls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Build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Grounded generative app</a:t>
            </a:r>
          </a:p>
          <a:p>
            <a:pPr>
              <a:spcAft>
                <a:spcPts val="900"/>
              </a:spcAft>
            </a:pPr>
            <a:r>
              <a:rPr sz="1400" b="0">
                <a:solidFill>
                  <a:srgbClr val="161B26"/>
                </a:solidFill>
                <a:latin typeface="Arial"/>
              </a:rPr>
              <a:t>•  Tool-using and multi-agent workflow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Extend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Vision, text, speech and extraction</a:t>
            </a:r>
          </a:p>
          <a:p>
            <a:pPr>
              <a:spcAft>
                <a:spcPts val="900"/>
              </a:spcAft>
            </a:pPr>
            <a:r>
              <a:rPr sz="1400" b="0">
                <a:solidFill>
                  <a:srgbClr val="161B26"/>
                </a:solidFill>
                <a:latin typeface="Arial"/>
              </a:rPr>
              <a:t>•  Hybrid search grounding pipeline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Start from the prior checkpoint.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the topic concept to synthetic Northstar evidence.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Build with placeholder configuration and least privilege.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a visible output, trace, file or query result.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Save the named checkpoint for the next lab.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Plan and Manage an Azure AI Solution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25-30% objective coverage · models · Foundry services · infrastructure · security · operations · responsible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25-30%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Plan and Manage an Azure AI Solution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Choose models and Foundry services from the task, modality, grounding, agency and operational constraints.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Treat deployment topology, quotas, cost, identity, networking and CI/CD as part of the AI design.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Monitor model quality, retrieval health, latency, tokens, safety events and business outcomes together.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Apply guardrails, provenance, approval and tool-access controls according to impact and reversibility.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TOPIC 01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Choose Models and Foundry Services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with the workload contract: modalities, output, latency, quality, data boundary and permitted actions. Select a model by task fit, not size alone. A Foundry project groups deployments, connections, agents, evaluation and observability. Use Azure AI Search or Foundry IQ for grounding and Foundry Tools for specialist services such as Content Understanding, Translator and Speech.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Choose Models and Foundry Services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Task fit</a:t>
            </a:r>
          </a:p>
          <a:p>
            <a:pPr algn="l">
              <a:spcAft>
                <a:spcPts val="300"/>
              </a:spcAft>
            </a:pPr>
            <a:r>
              <a:rPr sz="1600" b="0">
                <a:solidFill>
                  <a:srgbClr val="5B6372"/>
                </a:solidFill>
                <a:latin typeface="Arial"/>
              </a:rPr>
              <a:t>Match reasoning, modality, context and structured-output needs.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Grounding</a:t>
            </a:r>
          </a:p>
          <a:p>
            <a:pPr algn="l">
              <a:spcAft>
                <a:spcPts val="300"/>
              </a:spcAft>
            </a:pPr>
            <a:r>
              <a:rPr sz="1600" b="0">
                <a:solidFill>
                  <a:srgbClr val="5B6372"/>
                </a:solidFill>
                <a:latin typeface="Arial"/>
              </a:rPr>
              <a:t>Choose retrieval and indexing for evidence-bound answers.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Agency</a:t>
            </a:r>
          </a:p>
          <a:p>
            <a:pPr algn="l">
              <a:spcAft>
                <a:spcPts val="300"/>
              </a:spcAft>
            </a:pPr>
            <a:r>
              <a:rPr sz="1600" b="0">
                <a:solidFill>
                  <a:srgbClr val="5B6372"/>
                </a:solidFill>
                <a:latin typeface="Arial"/>
              </a:rPr>
              <a:t>Choose tools, memory and orchestration only when actions need them.</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Operations</a:t>
            </a:r>
          </a:p>
          <a:p>
            <a:pPr algn="l">
              <a:spcAft>
                <a:spcPts val="300"/>
              </a:spcAft>
            </a:pPr>
            <a:r>
              <a:rPr sz="1600" b="0">
                <a:solidFill>
                  <a:srgbClr val="5B6372"/>
                </a:solidFill>
                <a:latin typeface="Arial"/>
              </a:rPr>
              <a:t>Check region, quota, latency, cost, lifecycle and support status.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TOPIC 01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Infrastructure and Deployment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Separate development, validation and production environments. Use repeatable infrastructure definitions, named model deployments and environment-specific configuration so a release can be reproduced and rolled back. Capacity is shaped by tokens, requests, concurrency and downstream limits. Rate-limit handling should use bounded retries and backoff; cost controls should combine quotas, budgets, model routing, caching and output limits rather than relying on a single alert.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Infrastructure and Deployment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Project</a:t>
            </a:r>
          </a:p>
          <a:p>
            <a:pPr algn="l">
              <a:spcAft>
                <a:spcPts val="300"/>
              </a:spcAft>
            </a:pPr>
            <a:r>
              <a:rPr sz="1600" b="0">
                <a:solidFill>
                  <a:srgbClr val="5B6372"/>
                </a:solidFill>
                <a:latin typeface="Arial"/>
              </a:rPr>
              <a:t>Own models, agents, connections, evaluations and traces as one boundary.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Deployment</a:t>
            </a:r>
          </a:p>
          <a:p>
            <a:pPr algn="l">
              <a:spcAft>
                <a:spcPts val="300"/>
              </a:spcAft>
            </a:pPr>
            <a:r>
              <a:rPr sz="1600" b="0">
                <a:solidFill>
                  <a:srgbClr val="5B6372"/>
                </a:solidFill>
                <a:latin typeface="Arial"/>
              </a:rPr>
              <a:t>Name a model version and capacity configuration used by applications.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Pipeline</a:t>
            </a:r>
          </a:p>
          <a:p>
            <a:pPr algn="l">
              <a:spcAft>
                <a:spcPts val="300"/>
              </a:spcAft>
            </a:pPr>
            <a:r>
              <a:rPr sz="1600" b="0">
                <a:solidFill>
                  <a:srgbClr val="5B6372"/>
                </a:solidFill>
                <a:latin typeface="Arial"/>
              </a:rPr>
              <a:t>Promote tested code, prompts and configuration through environments.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Capacity</a:t>
            </a:r>
          </a:p>
          <a:p>
            <a:pPr algn="l">
              <a:spcAft>
                <a:spcPts val="300"/>
              </a:spcAft>
            </a:pPr>
            <a:r>
              <a:rPr sz="1600" b="0">
                <a:solidFill>
                  <a:srgbClr val="5B6372"/>
                </a:solidFill>
                <a:latin typeface="Arial"/>
              </a:rPr>
              <a:t>Model token, request and downstream-service constraints explicitly.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TOPIC 01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Identity, Network and Secrets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Prefer Microsoft Entra identities and role-based access over copied service keys. Distinguish the developer identity, application managed identity and end-user identity because each may be authorized to different project connections or data sources. Private endpoints and network controls reduce exposure but add DNS, routing and build-agent dependencies. Keep secrets in managed stores or environment settings and never place credentials in prompts, notebooks, screenshots or source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Identity, Network and Secrets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Authenticate</a:t>
            </a:r>
          </a:p>
          <a:p>
            <a:pPr algn="l">
              <a:spcAft>
                <a:spcPts val="300"/>
              </a:spcAft>
            </a:pPr>
            <a:r>
              <a:rPr sz="1600" b="0">
                <a:solidFill>
                  <a:srgbClr val="5B6372"/>
                </a:solidFill>
                <a:latin typeface="Arial"/>
              </a:rPr>
              <a:t>Prove which workload or user is calling.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Authorize</a:t>
            </a:r>
          </a:p>
          <a:p>
            <a:pPr algn="l">
              <a:spcAft>
                <a:spcPts val="300"/>
              </a:spcAft>
            </a:pPr>
            <a:r>
              <a:rPr sz="1600" b="0">
                <a:solidFill>
                  <a:srgbClr val="5B6372"/>
                </a:solidFill>
                <a:latin typeface="Arial"/>
              </a:rPr>
              <a:t>Grant the minimum project, model, search and data roles.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Isolate</a:t>
            </a:r>
          </a:p>
          <a:p>
            <a:pPr algn="l">
              <a:spcAft>
                <a:spcPts val="300"/>
              </a:spcAft>
            </a:pPr>
            <a:r>
              <a:rPr sz="1600" b="0">
                <a:solidFill>
                  <a:srgbClr val="5B6372"/>
                </a:solidFill>
                <a:latin typeface="Arial"/>
              </a:rPr>
              <a:t>Use approved public or private network paths and test DNS.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Protect</a:t>
            </a:r>
          </a:p>
          <a:p>
            <a:pPr algn="l">
              <a:spcAft>
                <a:spcPts val="300"/>
              </a:spcAft>
            </a:pPr>
            <a:r>
              <a:rPr sz="1600" b="0">
                <a:solidFill>
                  <a:srgbClr val="5B6372"/>
                </a:solidFill>
                <a:latin typeface="Arial"/>
              </a:rPr>
              <a:t>Use keyless credentials where supported and rotate unavoidable keys.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A580C"/>
                </a:solidFill>
                <a:latin typeface="Arial"/>
              </a:rPr>
              <a:t>TOPIC 01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Responsible AI and Operations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Responsible AI is a lifecycle practice. Define intended use, affected users, excluded behavior, content filtering, groundedness expectations, human oversight, disclosure and incident response before release. Trace evidence should connect user input, retrieval, model call, tool call and final response. Observe quality, drift, retrieval relevance, safety signals, token use, latency and errors without collecting more personal or confidential data than operations require.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Responsible AI and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Prevent</a:t>
            </a:r>
          </a:p>
          <a:p>
            <a:pPr algn="l">
              <a:spcAft>
                <a:spcPts val="300"/>
              </a:spcAft>
            </a:pPr>
            <a:r>
              <a:rPr sz="1600" b="0">
                <a:solidFill>
                  <a:srgbClr val="5B6372"/>
                </a:solidFill>
                <a:latin typeface="Arial"/>
              </a:rPr>
              <a:t>Use instructions, filters, schemas, least privilege and tool boundaries.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Detect</a:t>
            </a:r>
          </a:p>
          <a:p>
            <a:pPr algn="l">
              <a:spcAft>
                <a:spcPts val="300"/>
              </a:spcAft>
            </a:pPr>
            <a:r>
              <a:rPr sz="1600" b="0">
                <a:solidFill>
                  <a:srgbClr val="5B6372"/>
                </a:solidFill>
                <a:latin typeface="Arial"/>
              </a:rPr>
              <a:t>Evaluate quality and safety; monitor traces and unusual behavior.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Respond</a:t>
            </a:r>
          </a:p>
          <a:p>
            <a:pPr algn="l">
              <a:spcAft>
                <a:spcPts val="300"/>
              </a:spcAft>
            </a:pPr>
            <a:r>
              <a:rPr sz="1600" b="0">
                <a:solidFill>
                  <a:srgbClr val="5B6372"/>
                </a:solidFill>
                <a:latin typeface="Arial"/>
              </a:rPr>
              <a:t>Pause actions, route to people and preserve a useful correlation ID.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Improve</a:t>
            </a:r>
          </a:p>
          <a:p>
            <a:pPr algn="l">
              <a:spcAft>
                <a:spcPts val="300"/>
              </a:spcAft>
            </a:pPr>
            <a:r>
              <a:rPr sz="1600" b="0">
                <a:solidFill>
                  <a:srgbClr val="5B6372"/>
                </a:solidFill>
                <a:latin typeface="Arial"/>
              </a:rPr>
              <a:t>Change the component supported by evidence, then rerun regression tests.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Lab 1 — Design the Northstar Foundry Solution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1</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Translate the Northstar support scenario into a bounded architecture and decision record before provisioning or coding.</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EA580C"/>
                </a:solidFill>
                <a:latin typeface="Arial"/>
              </a:rPr>
              <a:t>YOU'LL BUILD  </a:t>
            </a:r>
            <a:r>
              <a:rPr sz="1600" b="1">
                <a:solidFill>
                  <a:srgbClr val="161B26"/>
                </a:solidFill>
                <a:latin typeface="Arial"/>
              </a:rPr>
              <a:t>A completed solution architecture decision record with a service map, identity boundary, deployment path, operational indicators and risk controls.</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Bound the support outcome</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Select models and services</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Map identity and deployment</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Attach control evidence</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EA580C"/>
                </a:solidFill>
                <a:latin typeface="Arial"/>
              </a:rPr>
              <a:t>TEST IT  </a:t>
            </a:r>
            <a:r>
              <a:rPr sz="1500" b="0">
                <a:solidFill>
                  <a:srgbClr val="161B26"/>
                </a:solidFill>
                <a:latin typeface="Arial"/>
              </a:rPr>
              <a:t>The ADR contains the outcome and exclusions, every required service has a scenario reason, every connection names an identity, and each priority risk has a control, owner and observable release evidence.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Lab 2 — Verify Foundry Access and the Operations Baseline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2</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Create an isolated Python workspace, authenticate through Azure CLI, inspect the instructor-provided Foundry project and make one controlled Responses API call.</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EA580C"/>
                </a:solidFill>
                <a:latin typeface="Arial"/>
              </a:rPr>
              <a:t>YOU'LL BUILD  </a:t>
            </a:r>
            <a:r>
              <a:rPr sz="1600" b="1">
                <a:solidFill>
                  <a:srgbClr val="161B26"/>
                </a:solidFill>
                <a:latin typeface="Arial"/>
              </a:rPr>
              <a:t>A verified local workspace, sanitized environment file, model response record and operations-baseline checklist linked from the ADR.</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Create an isolated workspace</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Authenticate without copied keys</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Call the project-scoped model</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Record operational evidence</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EA580C"/>
                </a:solidFill>
                <a:latin typeface="Arial"/>
              </a:rPr>
              <a:t>TEST IT  </a:t>
            </a:r>
            <a:r>
              <a:rPr sz="1500" b="0">
                <a:solidFill>
                  <a:srgbClr val="161B26"/>
                </a:solidFill>
                <a:latin typeface="Arial"/>
              </a:rPr>
              <a:t>The check-only run reports valid placeholder names, the live run prints a non-empty response and deployment list, and the ADR contains sanitized deployment, quota, identity, cost and trace evidence.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Plan and Manage an Azure AI Solution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 select task-fit models and Foundry services, then define infrastructure, security, operations and responsible AI controls.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 connect to a Foundry project with keyless developer authentication and record deployment, quota, cost, security and monitoring evidence.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Implement Generative AI and Agentic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30-35% objective coverage · Responses API · RAG · tools · memory · multi-agent · evaluation · observability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30-35%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Implement Generative AI and Agentic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A generative application is a controlled system of instructions, context, model parameters, validation and evaluation.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RAG quality depends on ingestion, chunking, retrieval, evidence selection and faithful generation.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Agents add tool selection, state and delegation; each capability needs a bounded contract and failure path.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Evaluation and tracing turn fluent behavior into measurable evidence for release and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TOPIC 02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Application Contract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Separate system instructions, user input, trusted context and output schema. The model should be told what to do when evidence is absent or conflicting, not merely what a good answer looks like. Generation parameters trade determinism, diversity, length, latency and cost. Structured outputs reduce brittle parsing, but the application must still validate types, required fields and allowed values before using the result.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Generative Application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Instruction</a:t>
            </a:r>
          </a:p>
          <a:p>
            <a:pPr algn="l">
              <a:spcAft>
                <a:spcPts val="300"/>
              </a:spcAft>
            </a:pPr>
            <a:r>
              <a:rPr sz="1600" b="0">
                <a:solidFill>
                  <a:srgbClr val="5B6372"/>
                </a:solidFill>
                <a:latin typeface="Arial"/>
              </a:rPr>
              <a:t>Role, task, evidence boundary and prohibited behavior.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Context</a:t>
            </a:r>
          </a:p>
          <a:p>
            <a:pPr algn="l">
              <a:spcAft>
                <a:spcPts val="300"/>
              </a:spcAft>
            </a:pPr>
            <a:r>
              <a:rPr sz="1600" b="0">
                <a:solidFill>
                  <a:srgbClr val="5B6372"/>
                </a:solidFill>
                <a:latin typeface="Arial"/>
              </a:rPr>
              <a:t>Retrieved or supplied facts that may support the answer.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Generation</a:t>
            </a:r>
          </a:p>
          <a:p>
            <a:pPr algn="l">
              <a:spcAft>
                <a:spcPts val="300"/>
              </a:spcAft>
            </a:pPr>
            <a:r>
              <a:rPr sz="1600" b="0">
                <a:solidFill>
                  <a:srgbClr val="5B6372"/>
                </a:solidFill>
                <a:latin typeface="Arial"/>
              </a:rPr>
              <a:t>Model and parameters selected for the task.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Validation</a:t>
            </a:r>
          </a:p>
          <a:p>
            <a:pPr algn="l">
              <a:spcAft>
                <a:spcPts val="300"/>
              </a:spcAft>
            </a:pPr>
            <a:r>
              <a:rPr sz="1600" b="0">
                <a:solidFill>
                  <a:srgbClr val="5B6372"/>
                </a:solidFill>
                <a:latin typeface="Arial"/>
              </a:rPr>
              <a:t>Schema, policy and business-rule checks before 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TOPIC 02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Retrieval-Augmented Generation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RAG retrieves candidate evidence before generation. Diagnose the stages separately: ingestion quality, index freshness, query representation, retrieval relevance, context selection and answer faithfulness. Keyword search is precise for exact terms; vector search retrieves semantic similarity; hybrid search combines both and can add semantic ranking. Access filters and source metadata must travel with the evidence so grounding does not become an authorization bypass.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Retrieval-Augmented Generation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Ingest</a:t>
            </a:r>
          </a:p>
          <a:p>
            <a:pPr algn="l">
              <a:spcAft>
                <a:spcPts val="300"/>
              </a:spcAft>
            </a:pPr>
            <a:r>
              <a:rPr sz="1600" b="0">
                <a:solidFill>
                  <a:srgbClr val="5B6372"/>
                </a:solidFill>
                <a:latin typeface="Arial"/>
              </a:rPr>
              <a:t>Extract, clean, segment and enrich approved content.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Retrieve</a:t>
            </a:r>
          </a:p>
          <a:p>
            <a:pPr algn="l">
              <a:spcAft>
                <a:spcPts val="300"/>
              </a:spcAft>
            </a:pPr>
            <a:r>
              <a:rPr sz="1600" b="0">
                <a:solidFill>
                  <a:srgbClr val="5B6372"/>
                </a:solidFill>
                <a:latin typeface="Arial"/>
              </a:rPr>
              <a:t>Use keyword, vector, hybrid or agentic retrieval deliberately.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Ground</a:t>
            </a:r>
          </a:p>
          <a:p>
            <a:pPr algn="l">
              <a:spcAft>
                <a:spcPts val="300"/>
              </a:spcAft>
            </a:pPr>
            <a:r>
              <a:rPr sz="1600" b="0">
                <a:solidFill>
                  <a:srgbClr val="5B6372"/>
                </a:solidFill>
                <a:latin typeface="Arial"/>
              </a:rPr>
              <a:t>Supply relevant evidence with identifiers and provenance.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Answer</a:t>
            </a:r>
          </a:p>
          <a:p>
            <a:pPr algn="l">
              <a:spcAft>
                <a:spcPts val="300"/>
              </a:spcAft>
            </a:pPr>
            <a:r>
              <a:rPr sz="1600" b="0">
                <a:solidFill>
                  <a:srgbClr val="5B6372"/>
                </a:solidFill>
                <a:latin typeface="Arial"/>
              </a:rPr>
              <a:t>Stay faithful, cite sources and decline unsupported claims.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TOPIC 02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Agent Roles, Tools and Memory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agent combines a model with instructions, conversation state and tools. Tool names, descriptions and schemas are routing signals; narrow typed tools are safer and easier to evaluate than a generic function that can do anything. Use conversation state for current-turn continuity and long-term memory only for durable user facts with an explicit scope and retention policy. Require human confirmation before consequential or hard-to-reverse tool calls.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Agent Roles, Tools and Memory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Role</a:t>
            </a:r>
          </a:p>
          <a:p>
            <a:pPr algn="l">
              <a:spcAft>
                <a:spcPts val="300"/>
              </a:spcAft>
            </a:pPr>
            <a:r>
              <a:rPr sz="1600" b="0">
                <a:solidFill>
                  <a:srgbClr val="5B6372"/>
                </a:solidFill>
                <a:latin typeface="Arial"/>
              </a:rPr>
              <a:t>One bounded outcome and clear exclusions.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Tool</a:t>
            </a:r>
          </a:p>
          <a:p>
            <a:pPr algn="l">
              <a:spcAft>
                <a:spcPts val="300"/>
              </a:spcAft>
            </a:pPr>
            <a:r>
              <a:rPr sz="1600" b="0">
                <a:solidFill>
                  <a:srgbClr val="5B6372"/>
                </a:solidFill>
                <a:latin typeface="Arial"/>
              </a:rPr>
              <a:t>A typed capability with least privilege and safe errors.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State</a:t>
            </a:r>
          </a:p>
          <a:p>
            <a:pPr algn="l">
              <a:spcAft>
                <a:spcPts val="300"/>
              </a:spcAft>
            </a:pPr>
            <a:r>
              <a:rPr sz="1600" b="0">
                <a:solidFill>
                  <a:srgbClr val="5B6372"/>
                </a:solidFill>
                <a:latin typeface="Arial"/>
              </a:rPr>
              <a:t>Conversation history needed for the current task.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Memory</a:t>
            </a:r>
          </a:p>
          <a:p>
            <a:pPr algn="l">
              <a:spcAft>
                <a:spcPts val="300"/>
              </a:spcAft>
            </a:pPr>
            <a:r>
              <a:rPr sz="1600" b="0">
                <a:solidFill>
                  <a:srgbClr val="5B6372"/>
                </a:solidFill>
                <a:latin typeface="Arial"/>
              </a:rPr>
              <a:t>Durable facts isolated by user or business scope.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TOPIC 02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Multi-Agent Orchestration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Multiple agents are justified when capabilities have different expertise, identities, data boundaries, ownership or release cadences. They also add latency, cost, routing uncertainty and more failure states. Give each specialist a non-overlapping capability description and a predictable result contract. Bound delegation depth, context sharing, timeouts and retries; preserve one correlation identifier across all hops.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Orchestration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Route</a:t>
            </a:r>
          </a:p>
          <a:p>
            <a:pPr algn="l">
              <a:spcAft>
                <a:spcPts val="300"/>
              </a:spcAft>
            </a:pPr>
            <a:r>
              <a:rPr sz="1600" b="0">
                <a:solidFill>
                  <a:srgbClr val="5B6372"/>
                </a:solidFill>
                <a:latin typeface="Arial"/>
              </a:rPr>
              <a:t>Choose a specialist from distinct capability descriptions.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Delegate</a:t>
            </a:r>
          </a:p>
          <a:p>
            <a:pPr algn="l">
              <a:spcAft>
                <a:spcPts val="300"/>
              </a:spcAft>
            </a:pPr>
            <a:r>
              <a:rPr sz="1600" b="0">
                <a:solidFill>
                  <a:srgbClr val="5B6372"/>
                </a:solidFill>
                <a:latin typeface="Arial"/>
              </a:rPr>
              <a:t>Pass the minimum task, context and constraints.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Return</a:t>
            </a:r>
          </a:p>
          <a:p>
            <a:pPr algn="l">
              <a:spcAft>
                <a:spcPts val="300"/>
              </a:spcAft>
            </a:pPr>
            <a:r>
              <a:rPr sz="1600" b="0">
                <a:solidFill>
                  <a:srgbClr val="5B6372"/>
                </a:solidFill>
                <a:latin typeface="Arial"/>
              </a:rPr>
              <a:t>Use a stable status, result, evidence and error shape.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Control</a:t>
            </a:r>
          </a:p>
          <a:p>
            <a:pPr algn="l">
              <a:spcAft>
                <a:spcPts val="300"/>
              </a:spcAft>
            </a:pPr>
            <a:r>
              <a:rPr sz="1600" b="0">
                <a:solidFill>
                  <a:srgbClr val="5B6372"/>
                </a:solidFill>
                <a:latin typeface="Arial"/>
              </a:rPr>
              <a:t>Limit depth, time, tools, context and consequential 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TOPIC 02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Evaluate and Operationalize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representative datasets for core, boundary, adversarial and regression scenarios. Measure relevance, groundedness, retrieval quality, task completion, tool selection, tool-input accuracy, latency, token use and safety according to the application risk. Tracing exposes the path from input through retrieval, model and tool spans. Error analysis should identify whether to change data, retrieval, instructions, model, tool schema or infrastructure rather than repeatedly editing the prompt by instinct.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Evaluate and Operationalize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Dataset</a:t>
            </a:r>
          </a:p>
          <a:p>
            <a:pPr algn="l">
              <a:spcAft>
                <a:spcPts val="300"/>
              </a:spcAft>
            </a:pPr>
            <a:r>
              <a:rPr sz="1600" b="0">
                <a:solidFill>
                  <a:srgbClr val="5B6372"/>
                </a:solidFill>
                <a:latin typeface="Arial"/>
              </a:rPr>
              <a:t>Representative queries, expected behavior and risk cases.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Evaluator</a:t>
            </a:r>
          </a:p>
          <a:p>
            <a:pPr algn="l">
              <a:spcAft>
                <a:spcPts val="300"/>
              </a:spcAft>
            </a:pPr>
            <a:r>
              <a:rPr sz="1600" b="0">
                <a:solidFill>
                  <a:srgbClr val="5B6372"/>
                </a:solidFill>
                <a:latin typeface="Arial"/>
              </a:rPr>
              <a:t>A defined metric, threshold and explanation.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Trace</a:t>
            </a:r>
          </a:p>
          <a:p>
            <a:pPr algn="l">
              <a:spcAft>
                <a:spcPts val="300"/>
              </a:spcAft>
            </a:pPr>
            <a:r>
              <a:rPr sz="1600" b="0">
                <a:solidFill>
                  <a:srgbClr val="5B6372"/>
                </a:solidFill>
                <a:latin typeface="Arial"/>
              </a:rPr>
              <a:t>Ordered spans for retrieval, model, tools and errors.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Decision</a:t>
            </a:r>
          </a:p>
          <a:p>
            <a:pPr algn="l">
              <a:spcAft>
                <a:spcPts val="300"/>
              </a:spcAft>
            </a:pPr>
            <a:r>
              <a:rPr sz="1600" b="0">
                <a:solidFill>
                  <a:srgbClr val="5B6372"/>
                </a:solidFill>
                <a:latin typeface="Arial"/>
              </a:rPr>
              <a:t>Release, hold or improve based on evidence and guardrails.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Lab 3 — Build and Test a Grounded Generative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3</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Build a small Northstar policy assistant that retrieves local evidence, sends only the selected context to the Foundry Responses API and records groundedness observations.</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DC2626"/>
                </a:solidFill>
                <a:latin typeface="Arial"/>
              </a:rPr>
              <a:t>YOU'LL BUILD  </a:t>
            </a:r>
            <a:r>
              <a:rPr sz="1600" b="1">
                <a:solidFill>
                  <a:srgbClr val="161B26"/>
                </a:solidFill>
                <a:latin typeface="Arial"/>
              </a:rPr>
              <a:t>A runnable grounded_app.py workflow, query trace JSON files and a five-case quality worksheet.</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Inspect the policy corpus</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Retrieve ranked evidence</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Generate within the evidence boundary</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Score and diagnose five cases</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DC2626"/>
                </a:solidFill>
                <a:latin typeface="Arial"/>
              </a:rPr>
              <a:t>TEST IT  </a:t>
            </a:r>
            <a:r>
              <a:rPr sz="1500" b="0">
                <a:solidFill>
                  <a:srgbClr val="161B26"/>
                </a:solidFill>
                <a:latin typeface="Arial"/>
              </a:rPr>
              <a:t>Supported questions cite only supplied policy source IDs, unsupported questions return supported=false, the conflict case names the conflict, and every quality case records the failing pipeline stage or acceptable result.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Lab 4 — Build a Tool-Using Agent with Approval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4</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Build a Northstar service agent that can read a synthetic request without approval but must pause before creating a draft escalation.</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DC2626"/>
                </a:solidFill>
                <a:latin typeface="Arial"/>
              </a:rPr>
              <a:t>YOU'LL BUILD  </a:t>
            </a:r>
            <a:r>
              <a:rPr sz="1600" b="1">
                <a:solidFill>
                  <a:srgbClr val="161B26"/>
                </a:solidFill>
                <a:latin typeface="Arial"/>
              </a:rPr>
              <a:t>A runnable Agent Framework app with read and write tools, an approval transcript and bounded error states.</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Define the bounded agent role</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Describe typed tools</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Require approval before action</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Verify every outcome and trace</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DC2626"/>
                </a:solidFill>
                <a:latin typeface="Arial"/>
              </a:rPr>
              <a:t>TEST IT  </a:t>
            </a:r>
            <a:r>
              <a:rPr sz="1500" b="0">
                <a:solidFill>
                  <a:srgbClr val="161B26"/>
                </a:solidFill>
                <a:latin typeface="Arial"/>
              </a:rPr>
              <a:t>The self-check passes; read-only lookup works without approval; approved, rejected, missing, invalid and duplicate paths produce distinct bounded outcomes; and the write-like tool never executes before explicit approval.</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Lab 5 — Design Multi-Agent Routing and Quality Gates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5</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Use a deterministic routing simulator and Foundry traces to separate policy, request and extraction specialists, then define quality thresholds for release.</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DC2626"/>
                </a:solidFill>
                <a:latin typeface="Arial"/>
              </a:rPr>
              <a:t>YOU'LL BUILD  </a:t>
            </a:r>
            <a:r>
              <a:rPr sz="1600" b="1">
                <a:solidFill>
                  <a:srgbClr val="161B26"/>
                </a:solidFill>
                <a:latin typeface="Arial"/>
              </a:rPr>
              <a:t>A multi-agent contract map, ten-case routing result, trace-based error analysis and release-gate decision record.</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Separate specialist contracts</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Test ten routing cases</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Trace errors to one stage</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Set measurable release gates</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DC2626"/>
                </a:solidFill>
                <a:latin typeface="Arial"/>
              </a:rPr>
              <a:t>TEST IT  </a:t>
            </a:r>
            <a:r>
              <a:rPr sz="1500" b="0">
                <a:solidFill>
                  <a:srgbClr val="161B26"/>
                </a:solidFill>
                <a:latin typeface="Arial"/>
              </a:rPr>
              <a:t>All ten cases have an expected and actual route, no specialist receives an excluded task, every observed failure is assigned to a pipeline stage, and the release record contains measurable quality, safety, latency and rollback criteria.</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Implement Generative AI and Agentic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 implement RAG, structured prompting and repeatable quality checks through a Microsoft Foundry project.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 define an agent role, typed function tools, conversation state and a human approval boundary for consequential actions.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 implement bounded specialist routing, evaluate agent behavior and define observability and release gates.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Implement Computer Vision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10-15% objective coverage · image and video generation · editing · multimodal understanding · accessibility · visual safety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10-15%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Implement Computer Vision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Generation prompts specify subject, composition, style, constraints and intended use; editing adds source images and masks.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Multimodal understanding grounds answers in pixels, embedded text, temporal segments and extracted regions.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Accessible descriptions prioritize purpose and relevant evidence rather than listing every visual detail.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Visual inputs can contain unsafe content or indirect prompt injection and require content and policy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Generate and Edit Images or Video</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Select a generation model by supported modality, region, quality, latency, cost and control surface. A useful prompt defines subject, setting, composition, visual treatment, text requirements and exclusions; reference media and masks constrain edits. Generation is iterative but should remain traceable. Save prompt versions, model deployment, parameters, content-filter outcomes and human decisions when outputs feed a business process.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Edit Images 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Prompt</a:t>
            </a:r>
          </a:p>
          <a:p>
            <a:pPr algn="l">
              <a:spcAft>
                <a:spcPts val="300"/>
              </a:spcAft>
            </a:pPr>
            <a:r>
              <a:rPr sz="1600" b="0">
                <a:solidFill>
                  <a:srgbClr val="5B6372"/>
                </a:solidFill>
                <a:latin typeface="Arial"/>
              </a:rPr>
              <a:t>Subject, composition, treatment, constraints and exclusions.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Reference</a:t>
            </a:r>
          </a:p>
          <a:p>
            <a:pPr algn="l">
              <a:spcAft>
                <a:spcPts val="300"/>
              </a:spcAft>
            </a:pPr>
            <a:r>
              <a:rPr sz="1600" b="0">
                <a:solidFill>
                  <a:srgbClr val="5B6372"/>
                </a:solidFill>
                <a:latin typeface="Arial"/>
              </a:rPr>
              <a:t>Source media that preserves identity, layout or style.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Mask</a:t>
            </a:r>
          </a:p>
          <a:p>
            <a:pPr algn="l">
              <a:spcAft>
                <a:spcPts val="300"/>
              </a:spcAft>
            </a:pPr>
            <a:r>
              <a:rPr sz="1600" b="0">
                <a:solidFill>
                  <a:srgbClr val="5B6372"/>
                </a:solidFill>
                <a:latin typeface="Arial"/>
              </a:rPr>
              <a:t>Region eligible for inpainting or replacement.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Review</a:t>
            </a:r>
          </a:p>
          <a:p>
            <a:pPr algn="l">
              <a:spcAft>
                <a:spcPts val="300"/>
              </a:spcAft>
            </a:pPr>
            <a:r>
              <a:rPr sz="1600" b="0">
                <a:solidFill>
                  <a:srgbClr val="5B6372"/>
                </a:solidFill>
                <a:latin typeface="Arial"/>
              </a:rPr>
              <a:t>Safety, accuracy, rights, brand and accessibility checks.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Multimodal Understanding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multimodal model can answer questions about images and selected video frames, while Content Understanding can extract descriptions, fields, timing, segments and structured representations from several media types. Ask for observations before interpretations, cite the visual region or time segment when possible, and state uncertainty. Optical text can be untrusted input; embedded instructions should never override the application policy.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Multimodal Understanding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Observe</a:t>
            </a:r>
          </a:p>
          <a:p>
            <a:pPr algn="l">
              <a:spcAft>
                <a:spcPts val="300"/>
              </a:spcAft>
            </a:pPr>
            <a:r>
              <a:rPr sz="1600" b="0">
                <a:solidFill>
                  <a:srgbClr val="5B6372"/>
                </a:solidFill>
                <a:latin typeface="Arial"/>
              </a:rPr>
              <a:t>Objects, text, layout, action and scene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Locate</a:t>
            </a:r>
          </a:p>
          <a:p>
            <a:pPr algn="l">
              <a:spcAft>
                <a:spcPts val="300"/>
              </a:spcAft>
            </a:pPr>
            <a:r>
              <a:rPr sz="1600" b="0">
                <a:solidFill>
                  <a:srgbClr val="5B6372"/>
                </a:solidFill>
                <a:latin typeface="Arial"/>
              </a:rPr>
              <a:t>Region, page, frame, timestamp or segment.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Reason</a:t>
            </a:r>
          </a:p>
          <a:p>
            <a:pPr algn="l">
              <a:spcAft>
                <a:spcPts val="300"/>
              </a:spcAft>
            </a:pPr>
            <a:r>
              <a:rPr sz="1600" b="0">
                <a:solidFill>
                  <a:srgbClr val="5B6372"/>
                </a:solidFill>
                <a:latin typeface="Arial"/>
              </a:rPr>
              <a:t>Answer only what the visible evidence supports.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Represent</a:t>
            </a:r>
          </a:p>
          <a:p>
            <a:pPr algn="l">
              <a:spcAft>
                <a:spcPts val="300"/>
              </a:spcAft>
            </a:pPr>
            <a:r>
              <a:rPr sz="1600" b="0">
                <a:solidFill>
                  <a:srgbClr val="5B6372"/>
                </a:solidFill>
                <a:latin typeface="Arial"/>
              </a:rPr>
              <a:t>Return captions, markdown, fields or structured JSON.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Accessible Visual Descriptions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Alt text communicates the image's purpose in context. Decorative images can use empty alt text; informative images need concise meaning; complex charts or diagrams need a short label plus a nearby extended description. Generated descriptions require human review for names, sensitive attributes, inferred emotion and domain-specific claims. Do not guess protected or personal characteristics that are not needed for the task.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Accessible Visual Descriptions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Purpose</a:t>
            </a:r>
          </a:p>
          <a:p>
            <a:pPr algn="l">
              <a:spcAft>
                <a:spcPts val="300"/>
              </a:spcAft>
            </a:pPr>
            <a:r>
              <a:rPr sz="1600" b="0">
                <a:solidFill>
                  <a:srgbClr val="5B6372"/>
                </a:solidFill>
                <a:latin typeface="Arial"/>
              </a:rPr>
              <a:t>Explain why the image matters in this context.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Evidence</a:t>
            </a:r>
          </a:p>
          <a:p>
            <a:pPr algn="l">
              <a:spcAft>
                <a:spcPts val="300"/>
              </a:spcAft>
            </a:pPr>
            <a:r>
              <a:rPr sz="1600" b="0">
                <a:solidFill>
                  <a:srgbClr val="5B6372"/>
                </a:solidFill>
                <a:latin typeface="Arial"/>
              </a:rPr>
              <a:t>Describe visible facts before interpretation.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Length</a:t>
            </a:r>
          </a:p>
          <a:p>
            <a:pPr algn="l">
              <a:spcAft>
                <a:spcPts val="300"/>
              </a:spcAft>
            </a:pPr>
            <a:r>
              <a:rPr sz="1600" b="0">
                <a:solidFill>
                  <a:srgbClr val="5B6372"/>
                </a:solidFill>
                <a:latin typeface="Arial"/>
              </a:rPr>
              <a:t>Use concise alt text plus an extended description when needed.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Review</a:t>
            </a:r>
          </a:p>
          <a:p>
            <a:pPr algn="l">
              <a:spcAft>
                <a:spcPts val="300"/>
              </a:spcAft>
            </a:pPr>
            <a:r>
              <a:rPr sz="1600" b="0">
                <a:solidFill>
                  <a:srgbClr val="5B6372"/>
                </a:solidFill>
                <a:latin typeface="Arial"/>
              </a:rPr>
              <a:t>Check names, numbers, bias, privacy and unsupported inference.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03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Responsible Multimodal Controls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Apply input and output content policies, provenance or watermark rules, permitted-brand constraints and a review path for ambiguous or high-impact content. A safe text prompt does not guarantee a safe visual result. Indirect prompt injection can be hidden in signs, screenshots or documents. Treat extracted visual text as data, keep system instructions authoritative and restrict tool access even when the image asks the model to take action.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Responsible Multimodal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Classify</a:t>
            </a:r>
          </a:p>
          <a:p>
            <a:pPr algn="l">
              <a:spcAft>
                <a:spcPts val="300"/>
              </a:spcAft>
            </a:pPr>
            <a:r>
              <a:rPr sz="1600" b="0">
                <a:solidFill>
                  <a:srgbClr val="5B6372"/>
                </a:solidFill>
                <a:latin typeface="Arial"/>
              </a:rPr>
              <a:t>Detect unsafe or disallowed visual content.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Resist</a:t>
            </a:r>
          </a:p>
          <a:p>
            <a:pPr algn="l">
              <a:spcAft>
                <a:spcPts val="300"/>
              </a:spcAft>
            </a:pPr>
            <a:r>
              <a:rPr sz="1600" b="0">
                <a:solidFill>
                  <a:srgbClr val="5B6372"/>
                </a:solidFill>
                <a:latin typeface="Arial"/>
              </a:rPr>
              <a:t>Treat embedded instructions as untrusted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Constrain</a:t>
            </a:r>
          </a:p>
          <a:p>
            <a:pPr algn="l">
              <a:spcAft>
                <a:spcPts val="300"/>
              </a:spcAft>
            </a:pPr>
            <a:r>
              <a:rPr sz="1600" b="0">
                <a:solidFill>
                  <a:srgbClr val="5B6372"/>
                </a:solidFill>
                <a:latin typeface="Arial"/>
              </a:rPr>
              <a:t>Apply brand, provenance, watermark and tool policies.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Escalate</a:t>
            </a:r>
          </a:p>
          <a:p>
            <a:pPr algn="l">
              <a:spcAft>
                <a:spcPts val="300"/>
              </a:spcAft>
            </a:pPr>
            <a:r>
              <a:rPr sz="1600" b="0">
                <a:solidFill>
                  <a:srgbClr val="5B6372"/>
                </a:solidFill>
                <a:latin typeface="Arial"/>
              </a:rPr>
              <a:t>Route uncertain or consequential content to a person.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Lab 6 — Build a Responsible Multimodal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6</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Create a visual-support evidence packet that combines one generated image, one image-understanding result, accessibility text and an indirect-prompt-injection check.</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1F6FEB"/>
                </a:solidFill>
                <a:latin typeface="Arial"/>
              </a:rPr>
              <a:t>YOU'LL BUILD  </a:t>
            </a:r>
            <a:r>
              <a:rPr sz="1600" b="1">
                <a:solidFill>
                  <a:srgbClr val="161B26"/>
                </a:solidFill>
                <a:latin typeface="Arial"/>
              </a:rPr>
              <a:t>A visual evidence packet with prompt versions, generated or rejoin image, structured observations, alt text, extended description and policy disposition.</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Generate or select controlled media</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Analyze visible evidence first</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Write accessible descriptions</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Test injection and policy controls</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1F6FEB"/>
                </a:solidFill>
                <a:latin typeface="Arial"/>
              </a:rPr>
              <a:t>TEST IT  </a:t>
            </a:r>
            <a:r>
              <a:rPr sz="1500" b="0">
                <a:solidFill>
                  <a:srgbClr val="161B26"/>
                </a:solidFill>
                <a:latin typeface="Arial"/>
              </a:rPr>
              <a:t>The packet contains a reproducible generation or rejoin source, a bounded edit, evidence-first analysis, accessible descriptions, and an injection result that never follows instructions embedded in the image.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Implement Computer Vision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LO4 - generate or edit visual content, analyze visual evidence, produce accessible descriptions and apply multimodal safety controls.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Implement Text Analysis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10-15% objective coverage · entities · topics · summaries · structured JSON · sentiment · translation · speech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10-15%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Implement Text Analysis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Generative text analysis can combine extraction, classification, summarization and structured output in one controlled prompt.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Sentiment and safety signals are probabilistic evidence, not facts about a person's intent or character.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Translation quality depends on locale, terminology, context and a review path for high-impact content.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Speech pipelines add audio quality, language, speaker, timing, voice and latency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04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Structured Text Analysis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Define the field schema before prompting. Entity extraction identifies spans or values, classification assigns allowed labels, summarization compresses information, and structured output makes downstream validation possible. Keep source text alongside extracted values and record confidence or evidence spans where the service supports them. Missing information should remain null or explicitly unknown rather than being fabricated to complete a schema.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Structured Text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Extract</a:t>
            </a:r>
          </a:p>
          <a:p>
            <a:pPr algn="l">
              <a:spcAft>
                <a:spcPts val="300"/>
              </a:spcAft>
            </a:pPr>
            <a:r>
              <a:rPr sz="1600" b="0">
                <a:solidFill>
                  <a:srgbClr val="5B6372"/>
                </a:solidFill>
                <a:latin typeface="Arial"/>
              </a:rPr>
              <a:t>Entities, facts, topics and domain fields.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Classify</a:t>
            </a:r>
          </a:p>
          <a:p>
            <a:pPr algn="l">
              <a:spcAft>
                <a:spcPts val="300"/>
              </a:spcAft>
            </a:pPr>
            <a:r>
              <a:rPr sz="1600" b="0">
                <a:solidFill>
                  <a:srgbClr val="5B6372"/>
                </a:solidFill>
                <a:latin typeface="Arial"/>
              </a:rPr>
              <a:t>Sentiment, tone, safety or business category.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Summarize</a:t>
            </a:r>
          </a:p>
          <a:p>
            <a:pPr algn="l">
              <a:spcAft>
                <a:spcPts val="300"/>
              </a:spcAft>
            </a:pPr>
            <a:r>
              <a:rPr sz="1600" b="0">
                <a:solidFill>
                  <a:srgbClr val="5B6372"/>
                </a:solidFill>
                <a:latin typeface="Arial"/>
              </a:rPr>
              <a:t>Compress while retaining decisions and exceptions.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Structure</a:t>
            </a:r>
          </a:p>
          <a:p>
            <a:pPr algn="l">
              <a:spcAft>
                <a:spcPts val="300"/>
              </a:spcAft>
            </a:pPr>
            <a:r>
              <a:rPr sz="1600" b="0">
                <a:solidFill>
                  <a:srgbClr val="5B6372"/>
                </a:solidFill>
                <a:latin typeface="Arial"/>
              </a:rPr>
              <a:t>Validate allowed keys, types and values.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04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Sentiment, Tone and Safety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Sentiment services return labels and confidence scores at document or sentence level. Opinion mining can connect an evaluated target to the words that describe it, making the signal more actionable than a single overall label. Use these signals for routing or prioritization with safeguards, not as unquestioned truth. Sarcasm, dialect, mixed sentiment, domain language and short text can reduce reliability.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Sentiment, Tone and Safety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Label</a:t>
            </a:r>
          </a:p>
          <a:p>
            <a:pPr algn="l">
              <a:spcAft>
                <a:spcPts val="300"/>
              </a:spcAft>
            </a:pPr>
            <a:r>
              <a:rPr sz="1600" b="0">
                <a:solidFill>
                  <a:srgbClr val="5B6372"/>
                </a:solidFill>
                <a:latin typeface="Arial"/>
              </a:rPr>
              <a:t>A supported category such as positive, neutral or negative.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Confidence</a:t>
            </a:r>
          </a:p>
          <a:p>
            <a:pPr algn="l">
              <a:spcAft>
                <a:spcPts val="300"/>
              </a:spcAft>
            </a:pPr>
            <a:r>
              <a:rPr sz="1600" b="0">
                <a:solidFill>
                  <a:srgbClr val="5B6372"/>
                </a:solidFill>
                <a:latin typeface="Arial"/>
              </a:rPr>
              <a:t>Model certainty, not correctness probability for every use.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Target</a:t>
            </a:r>
          </a:p>
          <a:p>
            <a:pPr algn="l">
              <a:spcAft>
                <a:spcPts val="300"/>
              </a:spcAft>
            </a:pPr>
            <a:r>
              <a:rPr sz="1600" b="0">
                <a:solidFill>
                  <a:srgbClr val="5B6372"/>
                </a:solidFill>
                <a:latin typeface="Arial"/>
              </a:rPr>
              <a:t>The product, feature or issue being discussed.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Safeguard</a:t>
            </a:r>
          </a:p>
          <a:p>
            <a:pPr algn="l">
              <a:spcAft>
                <a:spcPts val="300"/>
              </a:spcAft>
            </a:pPr>
            <a:r>
              <a:rPr sz="1600" b="0">
                <a:solidFill>
                  <a:srgbClr val="5B6372"/>
                </a:solidFill>
                <a:latin typeface="Arial"/>
              </a:rPr>
              <a:t>Threshold, human review and representative monitoring.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04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Translation and Domain Adaptation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Translation requires a source language, one or more target languages, terminology decisions and a fallback for unsupported language or ambiguous input. Preserve proper nouns, numbers, links and regulated terms deliberately. A generative model can adapt tone or format, while Azure Translator offers a dedicated translation contract. High-impact or customer-facing content should use terminology resources and bilingual review.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Translation and Domain Adaptation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Detect</a:t>
            </a:r>
          </a:p>
          <a:p>
            <a:pPr algn="l">
              <a:spcAft>
                <a:spcPts val="300"/>
              </a:spcAft>
            </a:pPr>
            <a:r>
              <a:rPr sz="1600" b="0">
                <a:solidFill>
                  <a:srgbClr val="5B6372"/>
                </a:solidFill>
                <a:latin typeface="Arial"/>
              </a:rPr>
              <a:t>Identify or confirm the source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Translate</a:t>
            </a:r>
          </a:p>
          <a:p>
            <a:pPr algn="l">
              <a:spcAft>
                <a:spcPts val="300"/>
              </a:spcAft>
            </a:pPr>
            <a:r>
              <a:rPr sz="1600" b="0">
                <a:solidFill>
                  <a:srgbClr val="5B6372"/>
                </a:solidFill>
                <a:latin typeface="Arial"/>
              </a:rPr>
              <a:t>Select target locale and dedicated or generative method.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Adapt</a:t>
            </a:r>
          </a:p>
          <a:p>
            <a:pPr algn="l">
              <a:spcAft>
                <a:spcPts val="300"/>
              </a:spcAft>
            </a:pPr>
            <a:r>
              <a:rPr sz="1600" b="0">
                <a:solidFill>
                  <a:srgbClr val="5B6372"/>
                </a:solidFill>
                <a:latin typeface="Arial"/>
              </a:rPr>
              <a:t>Apply domain terminology, tone and formatting.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Verify</a:t>
            </a:r>
          </a:p>
          <a:p>
            <a:pPr algn="l">
              <a:spcAft>
                <a:spcPts val="300"/>
              </a:spcAft>
            </a:pPr>
            <a:r>
              <a:rPr sz="1600" b="0">
                <a:solidFill>
                  <a:srgbClr val="5B6372"/>
                </a:solidFill>
                <a:latin typeface="Arial"/>
              </a:rPr>
              <a:t>Back-translate samples and review critical terms.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04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Speech and Audio Workflows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Speech to text converts audio into time-aligned language; text to speech renders text with a selected voice; speech translation combines recognition and translation. Choose real-time, fast-file or batch transcription by latency and media length. Audio quality, microphone placement, accents, overlap and domain terms affect accuracy. Custom speech models may improve specialist vocabulary but add data, evaluation and lifecycle responsibilities.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Speech and Audio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Capture</a:t>
            </a:r>
          </a:p>
          <a:p>
            <a:pPr algn="l">
              <a:spcAft>
                <a:spcPts val="300"/>
              </a:spcAft>
            </a:pPr>
            <a:r>
              <a:rPr sz="1600" b="0">
                <a:solidFill>
                  <a:srgbClr val="5B6372"/>
                </a:solidFill>
                <a:latin typeface="Arial"/>
              </a:rPr>
              <a:t>Microphone, stream or audio file with known format.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Recognize</a:t>
            </a:r>
          </a:p>
          <a:p>
            <a:pPr algn="l">
              <a:spcAft>
                <a:spcPts val="300"/>
              </a:spcAft>
            </a:pPr>
            <a:r>
              <a:rPr sz="1600" b="0">
                <a:solidFill>
                  <a:srgbClr val="5B6372"/>
                </a:solidFill>
                <a:latin typeface="Arial"/>
              </a:rPr>
              <a:t>Language, timing, speakers and confidence.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Reason</a:t>
            </a:r>
          </a:p>
          <a:p>
            <a:pPr algn="l">
              <a:spcAft>
                <a:spcPts val="300"/>
              </a:spcAft>
            </a:pPr>
            <a:r>
              <a:rPr sz="1600" b="0">
                <a:solidFill>
                  <a:srgbClr val="5B6372"/>
                </a:solidFill>
                <a:latin typeface="Arial"/>
              </a:rPr>
              <a:t>Summarize or extract from the transcript with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Respond</a:t>
            </a:r>
          </a:p>
          <a:p>
            <a:pPr algn="l">
              <a:spcAft>
                <a:spcPts val="300"/>
              </a:spcAft>
            </a:pPr>
            <a:r>
              <a:rPr sz="1600" b="0">
                <a:solidFill>
                  <a:srgbClr val="5B6372"/>
                </a:solidFill>
                <a:latin typeface="Arial"/>
              </a:rPr>
              <a:t>Translate or synthesize an accessible voice output.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Lab 7 — Implement a Text, Translation and Speech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7</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Process a synthetic Northstar support call from transcript or audio into structured JSON, translate the customer-facing summary and preserve timing and uncertainty evidence.</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10B981"/>
                </a:solidFill>
                <a:latin typeface="Arial"/>
              </a:rPr>
              <a:t>YOU'LL BUILD  </a:t>
            </a:r>
            <a:r>
              <a:rPr sz="1600" b="1">
                <a:solidFill>
                  <a:srgbClr val="161B26"/>
                </a:solidFill>
                <a:latin typeface="Arial"/>
              </a:rPr>
              <a:t>A validated support-call JSON record, translated summary, speech evidence record and language-quality review.</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Validate the output schema</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Extract with evidence and uncertainty</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Add speech and translation paths</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Review language quality and errors</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10B981"/>
                </a:solidFill>
                <a:latin typeface="Arial"/>
              </a:rPr>
              <a:t>TEST IT  </a:t>
            </a:r>
            <a:r>
              <a:rPr sz="1500" b="0">
                <a:solidFill>
                  <a:srgbClr val="161B26"/>
                </a:solidFill>
                <a:latin typeface="Arial"/>
              </a:rPr>
              <a:t>The output validates against the supplied schema, every extracted conclusion has transcript evidence or uncertainty, the speech path records a success or named rejoin state, and the translated summary preserves identifiers and critical facts.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Implement Text Analysis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LO5 - extract structured text signals, translate approved content and integrate speech input with explicit evidence and error handling.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Implement Information Extraction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10-15% objective coverage · ingestion · OCR · layout · Content Understanding · semantic, hybrid and vector search · grounding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COURSE COVERAGE 10-15%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Implement Information Extraction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Information extraction converts unstructured multimodal content into evidence-bearing fields and representations.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OCR finds text; layout finds structure; field extraction maps evidence to a business schema.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Search index design controls what can be retrieved, filtered, ranked, cited and secured.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600" b="0">
                <a:solidFill>
                  <a:srgbClr val="161B26"/>
                </a:solidFill>
                <a:latin typeface="Arial"/>
              </a:rPr>
              <a:t>A trustworthy pipeline monitors ingestion completeness, index freshness, retrieval relevance and grounded output quality.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05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Extraction Pipeline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Ingest approved documents, images, audio or video; normalize and segment the content; enrich it with OCR, layout, descriptions or custom skills; then map evidence to a stable field schema. Keep source identifiers, pages, spans, regions or timestamps so downstream users can inspect the evidence. Confidence thresholds and validation rules should route uncertain fields for review rather than silently accepting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Extraction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Ingest</a:t>
            </a:r>
          </a:p>
          <a:p>
            <a:pPr algn="l">
              <a:spcAft>
                <a:spcPts val="300"/>
              </a:spcAft>
            </a:pPr>
            <a:r>
              <a:rPr sz="1600" b="0">
                <a:solidFill>
                  <a:srgbClr val="5B6372"/>
                </a:solidFill>
                <a:latin typeface="Arial"/>
              </a:rPr>
              <a:t>Acquire approved content and preserve source identity.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Understand</a:t>
            </a:r>
          </a:p>
          <a:p>
            <a:pPr algn="l">
              <a:spcAft>
                <a:spcPts val="300"/>
              </a:spcAft>
            </a:pPr>
            <a:r>
              <a:rPr sz="1600" b="0">
                <a:solidFill>
                  <a:srgbClr val="5B6372"/>
                </a:solidFill>
                <a:latin typeface="Arial"/>
              </a:rPr>
              <a:t>OCR, layout, segments, descriptions and fields.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Validate</a:t>
            </a:r>
          </a:p>
          <a:p>
            <a:pPr algn="l">
              <a:spcAft>
                <a:spcPts val="300"/>
              </a:spcAft>
            </a:pPr>
            <a:r>
              <a:rPr sz="1600" b="0">
                <a:solidFill>
                  <a:srgbClr val="5B6372"/>
                </a:solidFill>
                <a:latin typeface="Arial"/>
              </a:rPr>
              <a:t>Schema, type, confidence and business-rule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Publish</a:t>
            </a:r>
          </a:p>
          <a:p>
            <a:pPr algn="l">
              <a:spcAft>
                <a:spcPts val="300"/>
              </a:spcAft>
            </a:pPr>
            <a:r>
              <a:rPr sz="1600" b="0">
                <a:solidFill>
                  <a:srgbClr val="5B6372"/>
                </a:solidFill>
                <a:latin typeface="Arial"/>
              </a:rPr>
              <a:t>Clean markdown, JSON, index documents and provenance.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05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Content Understanding Analyzers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analyzer defines the content types, segmentation and fields that Content Understanding should return. Prebuilt analyzers accelerate common documents and media; custom analyzers express a domain-specific schema and extraction instructions. Single-task pipelines optimize one outcome, while pro-mode or richer pipelines combine multiple extraction and reasoning tasks. Model availability, regional support, latency and cost remain deployment decisions.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Content Understanding Analyzers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Prebuilt</a:t>
            </a:r>
          </a:p>
          <a:p>
            <a:pPr algn="l">
              <a:spcAft>
                <a:spcPts val="300"/>
              </a:spcAft>
            </a:pPr>
            <a:r>
              <a:rPr sz="1600" b="0">
                <a:solidFill>
                  <a:srgbClr val="5B6372"/>
                </a:solidFill>
                <a:latin typeface="Arial"/>
              </a:rPr>
              <a:t>A ready analyzer for common document or media types.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Custom</a:t>
            </a:r>
          </a:p>
          <a:p>
            <a:pPr algn="l">
              <a:spcAft>
                <a:spcPts val="300"/>
              </a:spcAft>
            </a:pPr>
            <a:r>
              <a:rPr sz="1600" b="0">
                <a:solidFill>
                  <a:srgbClr val="5B6372"/>
                </a:solidFill>
                <a:latin typeface="Arial"/>
              </a:rPr>
              <a:t>A reusable domain schema with extraction instructions.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Content</a:t>
            </a:r>
          </a:p>
          <a:p>
            <a:pPr algn="l">
              <a:spcAft>
                <a:spcPts val="300"/>
              </a:spcAft>
            </a:pPr>
            <a:r>
              <a:rPr sz="1600" b="0">
                <a:solidFill>
                  <a:srgbClr val="5B6372"/>
                </a:solidFill>
                <a:latin typeface="Arial"/>
              </a:rPr>
              <a:t>Markdown, transcript, figures, segments and fields.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Evidence</a:t>
            </a:r>
          </a:p>
          <a:p>
            <a:pPr algn="l">
              <a:spcAft>
                <a:spcPts val="300"/>
              </a:spcAft>
            </a:pPr>
            <a:r>
              <a:rPr sz="1600" b="0">
                <a:solidFill>
                  <a:srgbClr val="5B6372"/>
                </a:solidFill>
                <a:latin typeface="Arial"/>
              </a:rPr>
              <a:t>Page, span, region, timestamp and confidence metadata.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05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Search for Grounding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Azure AI Search index separates retrievable content from vector fields and filterable metadata. Keyword, vector and hybrid queries serve different needs; hybrid results use reciprocal rank fusion and can be reranked semantically. Use integrated vectorization or precomputed embeddings consistently. Vector dimensions must match the embedding model, and security filters must be applied before evidence is returned to the application or agent.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Search for Grounding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Schema</a:t>
            </a:r>
          </a:p>
          <a:p>
            <a:pPr algn="l">
              <a:spcAft>
                <a:spcPts val="300"/>
              </a:spcAft>
            </a:pPr>
            <a:r>
              <a:rPr sz="1600" b="0">
                <a:solidFill>
                  <a:srgbClr val="5B6372"/>
                </a:solidFill>
                <a:latin typeface="Arial"/>
              </a:rPr>
              <a:t>Key, content, vector, filter, source and security fields.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Query</a:t>
            </a:r>
          </a:p>
          <a:p>
            <a:pPr algn="l">
              <a:spcAft>
                <a:spcPts val="300"/>
              </a:spcAft>
            </a:pPr>
            <a:r>
              <a:rPr sz="1600" b="0">
                <a:solidFill>
                  <a:srgbClr val="5B6372"/>
                </a:solidFill>
                <a:latin typeface="Arial"/>
              </a:rPr>
              <a:t>Keyword, vector, hybrid or agentic retrieval.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Rank</a:t>
            </a:r>
          </a:p>
          <a:p>
            <a:pPr algn="l">
              <a:spcAft>
                <a:spcPts val="300"/>
              </a:spcAft>
            </a:pPr>
            <a:r>
              <a:rPr sz="1600" b="0">
                <a:solidFill>
                  <a:srgbClr val="5B6372"/>
                </a:solidFill>
                <a:latin typeface="Arial"/>
              </a:rPr>
              <a:t>Similarity, reciprocal rank fusion and semantic reranking.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Filter</a:t>
            </a:r>
          </a:p>
          <a:p>
            <a:pPr algn="l">
              <a:spcAft>
                <a:spcPts val="300"/>
              </a:spcAft>
            </a:pPr>
            <a:r>
              <a:rPr sz="1600" b="0">
                <a:solidFill>
                  <a:srgbClr val="5B6372"/>
                </a:solidFill>
                <a:latin typeface="Arial"/>
              </a:rPr>
              <a:t>Tenant, user, source, category, date and permission boundary.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05 · CONCEPT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Grounded Representations and Quality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retrieval pipeline should return compact evidence with stable source identifiers. The generation layer should cite that evidence, state uncertainty and decline questions the retrieved content cannot answer. Monitor document counts, failed ingestion, stale sources, empty queries, retrieval precision, citation coverage and groundedness. A strong model cannot compensate for missing or unauthorized evidence.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WORKING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Grounded Representations and Quality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Completeness</a:t>
            </a:r>
          </a:p>
          <a:p>
            <a:pPr algn="l">
              <a:spcAft>
                <a:spcPts val="300"/>
              </a:spcAft>
            </a:pPr>
            <a:r>
              <a:rPr sz="1600" b="0">
                <a:solidFill>
                  <a:srgbClr val="5B6372"/>
                </a:solidFill>
                <a:latin typeface="Arial"/>
              </a:rPr>
              <a:t>Expected content was ingested and indexed.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Relevance</a:t>
            </a:r>
          </a:p>
          <a:p>
            <a:pPr algn="l">
              <a:spcAft>
                <a:spcPts val="300"/>
              </a:spcAft>
            </a:pPr>
            <a:r>
              <a:rPr sz="1600" b="0">
                <a:solidFill>
                  <a:srgbClr val="5B6372"/>
                </a:solidFill>
                <a:latin typeface="Arial"/>
              </a:rPr>
              <a:t>Retrieved passages address the actual query.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Faithfulness</a:t>
            </a:r>
          </a:p>
          <a:p>
            <a:pPr algn="l">
              <a:spcAft>
                <a:spcPts val="300"/>
              </a:spcAft>
            </a:pPr>
            <a:r>
              <a:rPr sz="1600" b="0">
                <a:solidFill>
                  <a:srgbClr val="5B6372"/>
                </a:solidFill>
                <a:latin typeface="Arial"/>
              </a:rPr>
              <a:t>The response stays within returned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161B26"/>
                </a:solidFill>
                <a:latin typeface="Arial"/>
              </a:rPr>
              <a:t>Provenance</a:t>
            </a:r>
          </a:p>
          <a:p>
            <a:pPr algn="l">
              <a:spcAft>
                <a:spcPts val="300"/>
              </a:spcAft>
            </a:pPr>
            <a:r>
              <a:rPr sz="1600" b="0">
                <a:solidFill>
                  <a:srgbClr val="5B6372"/>
                </a:solidFill>
                <a:latin typeface="Arial"/>
              </a:rPr>
              <a:t>A user or operator can locate the supporting source.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Lab 8 — Extract Invoice Evidence with Content Understanding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8</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Run the prebuilt invoice analyzer on a Microsoft synthetic sample, inspect markdown and fields, and validate business-critical values against source evidence.</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7C3AED"/>
                </a:solidFill>
                <a:latin typeface="Arial"/>
              </a:rPr>
              <a:t>YOU'LL BUILD  </a:t>
            </a:r>
            <a:r>
              <a:rPr sz="1600" b="1">
                <a:solidFill>
                  <a:srgbClr val="161B26"/>
                </a:solidFill>
                <a:latin typeface="Arial"/>
              </a:rPr>
              <a:t>A sanitized Content Understanding result, extracted invoice table, field-validation log and custom-analyzer design note.</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Run the prebuilt analyzer</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Inspect content and field evidence</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Validate totals and confidence</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Design a reusable custom schema</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7C3AED"/>
                </a:solidFill>
                <a:latin typeface="Arial"/>
              </a:rPr>
              <a:t>TEST IT  </a:t>
            </a:r>
            <a:r>
              <a:rPr sz="1500" b="0">
                <a:solidFill>
                  <a:srgbClr val="161B26"/>
                </a:solidFill>
                <a:latin typeface="Arial"/>
              </a:rPr>
              <a:t>The prebuilt analyzer returns document content, seven critical field groups are checked against source evidence, arithmetic is reconciled, and uncertain or missing values are routed to review rather than silently accepted.</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Lab 9 — Build and Verify a Hybrid Grounding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572768"/>
            <a:ext cx="114300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143000" cy="310896"/>
          </a:xfrm>
          <a:prstGeom prst="rect">
            <a:avLst/>
          </a:prstGeom>
          <a:noFill/>
        </p:spPr>
        <p:txBody>
          <a:bodyPr wrap="square" anchor="t">
            <a:spAutoFit/>
          </a:bodyPr>
          <a:lstStyle/>
          <a:p>
            <a:pPr algn="ctr">
              <a:spcAft>
                <a:spcPts val="400"/>
              </a:spcAft>
            </a:pPr>
            <a:r>
              <a:rPr sz="1400" b="1">
                <a:solidFill>
                  <a:srgbClr val="0D0E0B"/>
                </a:solidFill>
                <a:latin typeface="Arial"/>
              </a:rPr>
              <a:t>LAB 9</a:t>
            </a:r>
          </a:p>
        </p:txBody>
      </p:sp>
      <p:sp>
        <p:nvSpPr>
          <p:cNvPr id="9" name="TextBox 8"/>
          <p:cNvSpPr txBox="1"/>
          <p:nvPr/>
        </p:nvSpPr>
        <p:spPr>
          <a:xfrm>
            <a:off x="2103120" y="1536192"/>
            <a:ext cx="9235440" cy="502920"/>
          </a:xfrm>
          <a:prstGeom prst="rect">
            <a:avLst/>
          </a:prstGeom>
          <a:noFill/>
        </p:spPr>
        <p:txBody>
          <a:bodyPr wrap="square" anchor="ctr">
            <a:spAutoFit/>
          </a:bodyPr>
          <a:lstStyle/>
          <a:p>
            <a:pPr algn="l">
              <a:spcAft>
                <a:spcPts val="400"/>
              </a:spcAft>
            </a:pPr>
            <a:r>
              <a:rPr sz="1600" b="0">
                <a:solidFill>
                  <a:srgbClr val="161B26"/>
                </a:solidFill>
                <a:latin typeface="Arial"/>
              </a:rPr>
              <a:t>Query an instructor-prepared Azure AI Search index with keyword, vector and hybrid modes, compare relevance, and pass compact cited evidence to the Northstar grounded app.</a:t>
            </a:r>
          </a:p>
        </p:txBody>
      </p:sp>
      <p:sp>
        <p:nvSpPr>
          <p:cNvPr id="10" name="Rectangle 9"/>
          <p:cNvSpPr/>
          <p:nvPr/>
        </p:nvSpPr>
        <p:spPr>
          <a:xfrm>
            <a:off x="777240" y="21488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212848"/>
            <a:ext cx="10195560" cy="438912"/>
          </a:xfrm>
          <a:prstGeom prst="rect">
            <a:avLst/>
          </a:prstGeom>
          <a:noFill/>
        </p:spPr>
        <p:txBody>
          <a:bodyPr wrap="square" anchor="ctr">
            <a:spAutoFit/>
          </a:bodyPr>
          <a:lstStyle/>
          <a:p>
            <a:pPr algn="l">
              <a:spcAft>
                <a:spcPts val="400"/>
              </a:spcAft>
            </a:pPr>
            <a:r>
              <a:rPr sz="1300" b="1">
                <a:solidFill>
                  <a:srgbClr val="7C3AED"/>
                </a:solidFill>
                <a:latin typeface="Arial"/>
              </a:rPr>
              <a:t>YOU'LL BUILD  </a:t>
            </a:r>
            <a:r>
              <a:rPr sz="1600" b="1">
                <a:solidFill>
                  <a:srgbClr val="161B26"/>
                </a:solidFill>
                <a:latin typeface="Arial"/>
              </a:rPr>
              <a:t>A retrieval comparison report, hybrid-query result, grounded response with source IDs and a production monitoring checklist.</a:t>
            </a:r>
          </a:p>
        </p:txBody>
      </p:sp>
      <p:sp>
        <p:nvSpPr>
          <p:cNvPr id="12" name="Rectangle 11"/>
          <p:cNvSpPr/>
          <p:nvPr/>
        </p:nvSpPr>
        <p:spPr>
          <a:xfrm>
            <a:off x="777240"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7792"/>
            <a:ext cx="2494026"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0789" y="317296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40789"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1</a:t>
            </a:r>
          </a:p>
        </p:txBody>
      </p:sp>
      <p:sp>
        <p:nvSpPr>
          <p:cNvPr id="16" name="TextBox 15"/>
          <p:cNvSpPr txBox="1"/>
          <p:nvPr/>
        </p:nvSpPr>
        <p:spPr>
          <a:xfrm>
            <a:off x="923544"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Inspect the index contract</a:t>
            </a:r>
          </a:p>
        </p:txBody>
      </p:sp>
      <p:sp>
        <p:nvSpPr>
          <p:cNvPr id="17" name="Rectangle 16"/>
          <p:cNvSpPr/>
          <p:nvPr/>
        </p:nvSpPr>
        <p:spPr>
          <a:xfrm>
            <a:off x="3490722"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90722" y="2907792"/>
            <a:ext cx="249402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54271" y="317296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4271"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2</a:t>
            </a:r>
          </a:p>
        </p:txBody>
      </p:sp>
      <p:sp>
        <p:nvSpPr>
          <p:cNvPr id="21" name="TextBox 20"/>
          <p:cNvSpPr txBox="1"/>
          <p:nvPr/>
        </p:nvSpPr>
        <p:spPr>
          <a:xfrm>
            <a:off x="3637026"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Compare keyword, vector and hybrid</a:t>
            </a:r>
          </a:p>
        </p:txBody>
      </p:sp>
      <p:sp>
        <p:nvSpPr>
          <p:cNvPr id="22" name="Rectangle 21"/>
          <p:cNvSpPr/>
          <p:nvPr/>
        </p:nvSpPr>
        <p:spPr>
          <a:xfrm>
            <a:off x="6204204"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907792"/>
            <a:ext cx="249402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67753" y="3172968"/>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7753"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3</a:t>
            </a:r>
          </a:p>
        </p:txBody>
      </p:sp>
      <p:sp>
        <p:nvSpPr>
          <p:cNvPr id="26" name="TextBox 25"/>
          <p:cNvSpPr txBox="1"/>
          <p:nvPr/>
        </p:nvSpPr>
        <p:spPr>
          <a:xfrm>
            <a:off x="6350508"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Filter and cite retrieved evidence</a:t>
            </a:r>
          </a:p>
        </p:txBody>
      </p:sp>
      <p:sp>
        <p:nvSpPr>
          <p:cNvPr id="27" name="Rectangle 26"/>
          <p:cNvSpPr/>
          <p:nvPr/>
        </p:nvSpPr>
        <p:spPr>
          <a:xfrm>
            <a:off x="8917686" y="2907792"/>
            <a:ext cx="2494026" cy="2240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7686" y="2907792"/>
            <a:ext cx="2494026"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81235" y="317296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81235" y="3172968"/>
            <a:ext cx="566928" cy="566928"/>
          </a:xfrm>
          <a:prstGeom prst="rect">
            <a:avLst/>
          </a:prstGeom>
          <a:noFill/>
        </p:spPr>
        <p:txBody>
          <a:bodyPr wrap="square" anchor="ctr">
            <a:spAutoFit/>
          </a:bodyPr>
          <a:lstStyle/>
          <a:p>
            <a:pPr algn="ctr">
              <a:spcAft>
                <a:spcPts val="400"/>
              </a:spcAft>
            </a:pPr>
            <a:r>
              <a:rPr sz="2200" b="1">
                <a:solidFill>
                  <a:srgbClr val="FFFFFF"/>
                </a:solidFill>
                <a:latin typeface="Arial"/>
              </a:rPr>
              <a:t>4</a:t>
            </a:r>
          </a:p>
        </p:txBody>
      </p:sp>
      <p:sp>
        <p:nvSpPr>
          <p:cNvPr id="31" name="TextBox 30"/>
          <p:cNvSpPr txBox="1"/>
          <p:nvPr/>
        </p:nvSpPr>
        <p:spPr>
          <a:xfrm>
            <a:off x="9063990" y="3913632"/>
            <a:ext cx="2201418" cy="987552"/>
          </a:xfrm>
          <a:prstGeom prst="rect">
            <a:avLst/>
          </a:prstGeom>
          <a:noFill/>
        </p:spPr>
        <p:txBody>
          <a:bodyPr wrap="square" anchor="ctr">
            <a:spAutoFit/>
          </a:bodyPr>
          <a:lstStyle/>
          <a:p>
            <a:pPr algn="ctr">
              <a:spcAft>
                <a:spcPts val="400"/>
              </a:spcAft>
            </a:pPr>
            <a:r>
              <a:rPr sz="1600" b="0">
                <a:solidFill>
                  <a:srgbClr val="161B26"/>
                </a:solidFill>
                <a:latin typeface="Arial"/>
              </a:rPr>
              <a:t>Define end-to-end monitoring</a:t>
            </a:r>
          </a:p>
        </p:txBody>
      </p:sp>
      <p:sp>
        <p:nvSpPr>
          <p:cNvPr id="32" name="Rectangle 31"/>
          <p:cNvSpPr/>
          <p:nvPr/>
        </p:nvSpPr>
        <p:spPr>
          <a:xfrm>
            <a:off x="777240" y="537667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431536"/>
            <a:ext cx="10195560" cy="438912"/>
          </a:xfrm>
          <a:prstGeom prst="rect">
            <a:avLst/>
          </a:prstGeom>
          <a:noFill/>
        </p:spPr>
        <p:txBody>
          <a:bodyPr wrap="square" anchor="ctr">
            <a:spAutoFit/>
          </a:bodyPr>
          <a:lstStyle/>
          <a:p>
            <a:pPr algn="l">
              <a:spcAft>
                <a:spcPts val="400"/>
              </a:spcAft>
            </a:pPr>
            <a:r>
              <a:rPr sz="1300" b="1">
                <a:solidFill>
                  <a:srgbClr val="7C3AED"/>
                </a:solidFill>
                <a:latin typeface="Arial"/>
              </a:rPr>
              <a:t>TEST IT  </a:t>
            </a:r>
            <a:r>
              <a:rPr sz="1500" b="0">
                <a:solidFill>
                  <a:srgbClr val="161B26"/>
                </a:solidFill>
                <a:latin typeface="Arial"/>
              </a:rPr>
              <a:t>Keyword, vector and hybrid reports contain source IDs and latency; the permission filter excludes restricted content; the final answer cites only retrieved sources; and the monitoring checklist covers ingestion, retrieval, generation, security and operations.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Implement Information Extraction Solutions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 use OCR, layout and a Content Understanding analyzer to produce structured, grounded document fields.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 configure semantic, hybrid and vector retrieval, connect evidence to an agent workflow and verify retrieval and grounding quality.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Plan &amp; Govern</a:t>
            </a:r>
          </a:p>
          <a:p>
            <a:pPr algn="l">
              <a:spcAft>
                <a:spcPts val="300"/>
              </a:spcAft>
            </a:pPr>
            <a:r>
              <a:rPr sz="1600" b="0">
                <a:solidFill>
                  <a:srgbClr val="5B6372"/>
                </a:solidFill>
                <a:latin typeface="Arial"/>
              </a:rPr>
              <a:t>Plan a secure, responsible and operable Microsoft Foundry solution by selecting suitable models, services, deployment patterns and controls.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Generative Apps</a:t>
            </a:r>
          </a:p>
          <a:p>
            <a:pPr algn="l">
              <a:spcAft>
                <a:spcPts val="300"/>
              </a:spcAft>
            </a:pPr>
            <a:r>
              <a:rPr sz="1600" b="0">
                <a:solidFill>
                  <a:srgbClr val="5B6372"/>
                </a:solidFill>
                <a:latin typeface="Arial"/>
              </a:rPr>
              <a:t>Build grounded generative applications with Microsoft Foundry, retrieval patterns, structured prompts and repeatable quality checks.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Agents</a:t>
            </a:r>
          </a:p>
          <a:p>
            <a:pPr algn="l">
              <a:spcAft>
                <a:spcPts val="300"/>
              </a:spcAft>
            </a:pPr>
            <a:r>
              <a:rPr sz="1600" b="0">
                <a:solidFill>
                  <a:srgbClr val="5B6372"/>
                </a:solidFill>
                <a:latin typeface="Arial"/>
              </a:rPr>
              <a:t>Build and operationalize tool-using and multi-agent solutions with bounded roles, approval controls, tracing and error analysis.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Vision</a:t>
            </a:r>
          </a:p>
          <a:p>
            <a:pPr algn="l">
              <a:spcAft>
                <a:spcPts val="300"/>
              </a:spcAft>
            </a:pPr>
            <a:r>
              <a:rPr sz="1600" b="0">
                <a:solidFill>
                  <a:srgbClr val="5B6372"/>
                </a:solidFill>
                <a:latin typeface="Arial"/>
              </a:rPr>
              <a:t>Implement multimodal computer-vision workflows for generation, understanding, accessibility and visual safety.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Text &amp; Speech</a:t>
            </a:r>
          </a:p>
          <a:p>
            <a:pPr algn="l">
              <a:spcAft>
                <a:spcPts val="300"/>
              </a:spcAft>
            </a:pPr>
            <a:r>
              <a:rPr sz="1600" b="0">
                <a:solidFill>
                  <a:srgbClr val="5B6372"/>
                </a:solidFill>
                <a:latin typeface="Arial"/>
              </a:rPr>
              <a:t>Implement text, translation and speech workflows that return reliable structured outputs and handle language-specific limitations.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161B26"/>
                </a:solidFill>
                <a:latin typeface="Arial"/>
              </a:rPr>
              <a:t>Extraction &amp; Search</a:t>
            </a:r>
          </a:p>
          <a:p>
            <a:pPr algn="l">
              <a:spcAft>
                <a:spcPts val="300"/>
              </a:spcAft>
            </a:pPr>
            <a:r>
              <a:rPr sz="1600" b="0">
                <a:solidFill>
                  <a:srgbClr val="5B6372"/>
                </a:solidFill>
                <a:latin typeface="Arial"/>
              </a:rPr>
              <a:t>Implement information-extraction and retrieval pipelines with OCR, Content Understanding, Azure AI Search and grounded outputs.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Building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Rebuild the Northstar solution in a separate development project using your own approved sandbox resources.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Replace one synthetic integration with an authorized organisational dataset and define its identity and freshness controls.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Convert the course quality rubric, trace review and release checklist into reusable engineering templates.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Review the current Microsoft Learn AI-103 study guide and product documentation before implementing features in a live environment.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have planned, built, grounded, extended and operationalized one connected Azure AI apps and agents solution.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AI-103 Azure AI Apps and Agents Developer Associate (C926)  ·  C926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