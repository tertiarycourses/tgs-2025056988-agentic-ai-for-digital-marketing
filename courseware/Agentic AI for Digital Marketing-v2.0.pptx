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78</c:v>
                </c:pt>
                <c:pt idx="2">
                  <c:v>62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88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78</c:v>
                </c:pt>
                <c:pt idx="2">
                  <c:v>62</c:v>
                </c:pt>
                <c:pt idx="3">
                  <c:v>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88</c:v>
                </c:pt>
                <c:pt idx="3">
                  <c:v>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6.2</c:v>
                </c:pt>
                <c:pt idx="2">
                  <c:v>6.3</c:v>
                </c:pt>
                <c:pt idx="3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Confidence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3.2</c:v>
                </c:pt>
                <c:pt idx="1">
                  <c:v>4.8</c:v>
                </c:pt>
                <c:pt idx="2">
                  <c:v>4.5</c:v>
                </c:pt>
                <c:pt idx="3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6.2</c:v>
                </c:pt>
                <c:pt idx="2">
                  <c:v>6.3</c:v>
                </c:pt>
                <c:pt idx="3">
                  <c:v>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Confidence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3.2</c:v>
                </c:pt>
                <c:pt idx="1">
                  <c:v>4.8</c:v>
                </c:pt>
                <c:pt idx="2">
                  <c:v>4.5</c:v>
                </c:pt>
                <c:pt idx="3">
                  <c:v>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91</c:v>
                </c:pt>
                <c:pt idx="2">
                  <c:v>87</c:v>
                </c:pt>
                <c:pt idx="3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91</c:v>
                </c:pt>
                <c:pt idx="2">
                  <c:v>87</c:v>
                </c:pt>
                <c:pt idx="3">
                  <c:v>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48</c:v>
                </c:pt>
                <c:pt idx="2">
                  <c:v>36</c:v>
                </c:pt>
                <c:pt idx="3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flags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48</c:v>
                </c:pt>
                <c:pt idx="2">
                  <c:v>36</c:v>
                </c:pt>
                <c:pt idx="3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flags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1.1</c:v>
                </c:pt>
                <c:pt idx="2">
                  <c:v>1.4</c:v>
                </c:pt>
                <c:pt idx="3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Guardrail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</c:v>
                </c:pt>
                <c:pt idx="1">
                  <c:v>0.95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1.1</c:v>
                </c:pt>
                <c:pt idx="2">
                  <c:v>1.4</c:v>
                </c:pt>
                <c:pt idx="3">
                  <c:v>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Guardrail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</c:v>
                </c:pt>
                <c:pt idx="1">
                  <c:v>0.95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1800</c:v>
                </c:pt>
                <c:pt idx="2">
                  <c:v>7200</c:v>
                </c:pt>
                <c:pt idx="3">
                  <c:v>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18360</c:v>
                </c:pt>
                <c:pt idx="1">
                  <c:v>22440</c:v>
                </c:pt>
                <c:pt idx="2">
                  <c:v>31008</c:v>
                </c:pt>
                <c:pt idx="3">
                  <c:v>6120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-marketin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8912"/>
            <a:ext cx="1828800" cy="6583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426464"/>
            <a:ext cx="196596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9659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WSQ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4800600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Agentic AI for Digital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96512"/>
            <a:ext cx="46634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EEE6F0"/>
                </a:solidFill>
                <a:latin typeface="Aptos"/>
              </a:rPr>
              <a:t>n8n automation · research to social publishing · human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7492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Course Code: TGS-2025056988
WST-SNM-5042-1.1 · 16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99048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v2.0 · 28 August 2026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AM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Scan the SSG QR code before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PM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Repeat after lunch and confirm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Assessment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assessment QR before WA/PP.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Funding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75% attendance and Competent result are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5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55F69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971800" cy="4251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2057400"/>
            <a:ext cx="1463040" cy="1463040"/>
          </a:xfrm>
          <a:prstGeom prst="roundRect">
            <a:avLst/>
          </a:prstGeom>
          <a:solidFill>
            <a:srgbClr val="65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331720"/>
            <a:ext cx="14630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606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221F27"/>
                </a:solidFill>
                <a:latin typeface="Aptos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55F69"/>
                </a:solidFill>
                <a:latin typeface="Aptos"/>
              </a:rPr>
              <a:t>Template profile 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73736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737360"/>
            <a:ext cx="73152" cy="896112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96596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512B58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4999" y="193852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78892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788920"/>
            <a:ext cx="73152" cy="896112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301752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EF626C"/>
                </a:solidFill>
                <a:latin typeface="Aptos"/>
              </a:rPr>
              <a:t>Industry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999" y="299008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84048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840480"/>
            <a:ext cx="73152" cy="89611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1" y="406908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68C8C"/>
                </a:solidFill>
                <a:latin typeface="Aptos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999" y="404164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89204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892040"/>
            <a:ext cx="73152" cy="896112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1" y="512064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A202"/>
                </a:solidFill>
                <a:latin typeface="Aptos"/>
              </a:rPr>
              <a:t>Relevant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4999" y="509320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971800" cy="4251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2057400"/>
            <a:ext cx="1463040" cy="14630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331720"/>
            <a:ext cx="14630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606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221F27"/>
                </a:solidFill>
                <a:latin typeface="Aptos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55F69"/>
                </a:solidFill>
                <a:latin typeface="Aptos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73736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737360"/>
            <a:ext cx="73152" cy="896112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96596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512B58"/>
                </a:solidFill>
                <a:latin typeface="Aptos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4999" y="193852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Principal trainer and courseware architect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78892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788920"/>
            <a:ext cx="73152" cy="896112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301752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EF626C"/>
                </a:solidFill>
                <a:latin typeface="Aptos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999" y="299008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AI, automation, cloud and applied digital transformation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84048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840480"/>
            <a:ext cx="73152" cy="89611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1" y="406908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68C8C"/>
                </a:solidFill>
                <a:latin typeface="Aptos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999" y="404164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Mechanism-led training with auditable hands-on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89204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892040"/>
            <a:ext cx="73152" cy="896112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1" y="512064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A202"/>
                </a:solidFill>
                <a:latin typeface="Aptos"/>
              </a:rPr>
              <a:t>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4999" y="509320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Human-supervised agent systems and responsible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marketing decision do you own?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Current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Which channels and systems do you use?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repetitive work should n8n coordinate?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must never publish without human review?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Participate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Ask, test and explain your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Respect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conversation at a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only synthetic data and sandbox accounts.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Keep live publisher nodes disabled until authorised.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VISUAL DOWNLOAD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Open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lms-tms.tertiaryinfotech.com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Select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TGS-2025056988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Open 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slides, guide and labs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keep folder structure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JSON + Excel per lab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 the Learner Guide for detailed procedures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16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Course Schedule — 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Day 1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Research intelligence and campaign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Day 1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Strategy, KPI/ROI and content contracts.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Day 2 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Human oversight and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Day 2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Analytics, optimisation and assessment.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LO1–LO3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Research, strategy, objectives, KPIs and ROI.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Evaluate ROI and synthesise strategy models.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Lead an integrated presence with human oversight.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15 connected n8n labs and a run ledger.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WST-SNM-5042-1.1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Skills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TSC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Digital Marketing · Level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K1–K5: frameworks, analytics, models, ROI, channels.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A1–A5: KPIs, goals, ROI, integration, presence.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Open-ended WA + hands-on PP.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ASSESSMENT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Knowledge Criteria — K1 to K5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37944"/>
            <a:ext cx="960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10512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Frameworks for designing an integrated digital marketing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2032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715768"/>
            <a:ext cx="9601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88336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Techniques to draw insights from marketing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19856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593592"/>
            <a:ext cx="9601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66160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Integrated Digital Marketing strategy and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97680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471416"/>
            <a:ext cx="9601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9704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43984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Methods for analysis of digital marketing return on investment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175504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349240"/>
            <a:ext cx="960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67528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21808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Developments in emerging marketing channels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WSQ competency criteria · assessment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ASSESSMENT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Ability Criteria — A1 to A5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37944"/>
            <a:ext cx="960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10512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Formulate KPIs for digital marketing 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2032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715768"/>
            <a:ext cx="9601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88336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Define goals and objectives of a digital marketing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19856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593592"/>
            <a:ext cx="9601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66160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Evaluate ROI for online customer-acquisition tools and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97680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471416"/>
            <a:ext cx="9601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9704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43984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Integrate digital marketing with the overall marketing strategy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175504"/>
            <a:ext cx="10744200" cy="69494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349240"/>
            <a:ext cx="960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67528"/>
            <a:ext cx="960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21808"/>
            <a:ext cx="88696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221F27"/>
                </a:solidFill>
                <a:latin typeface="Aptos"/>
              </a:rPr>
              <a:t>Lead development of a seamless online presence over web, social and mobile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WSQ competency criteria · assessment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End-to-End Marketing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verified 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RACE/SOSTAC + KPI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channel assets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approval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dry-run or authorised live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events, ROI, learning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transition writes lineage to the run ledger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Human Oversight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agent can generate, score and recommend—but must not approve its own output, expand scope or mutate a live budget.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n8n pauses consequential branches, binds approval to a payload hash, records the reviewer and routes changed payloads back to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OPEN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WA/SAQ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60 minutes; open-ended knowledge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60 minutes; practical workflow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Upload completed answers to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Conduct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 discussion, recording or script sharing.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COMPETENCY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Explain mechanisms, formulas, controls and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and verify a supervised n8n stage.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Identify risk and justify human oversight.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Competent / Not Yet Competent.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complete survey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scan assessment QR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open-ended SAQ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workflow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Submit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upload to LMS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Sign 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assessment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Question papers only are learner-facing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earch-intelligenc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Research Intelligence &amp; Campaign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Evidence collection · source quality · audience signals · opportunity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LO1 · K1–K2 · A1–A2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Research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structured brief defines market, audience, decision, constraints and evidence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Evidence lineage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insight retains source URL, retrieval time, publisher, claim and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Signal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Relevance × reliability × recency produces an auditable priority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Audience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Jobs, pains, triggers and objections are derived from evidence—not invented personas.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Agent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n8n orchestrates tools and state; a human owns research acceptance and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Data minimisation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Collect only fields required for a marketing decision; exclude sensitive personal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Reliability and recency are separate; fresh does not always mean trustworthy.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RESEARCH INTELLIGENCE &amp; CAMPAIGN INPUTS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01 — Campaign Brief Intake &amp; KPI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validated campaign object with objectives, KPI contracts, owners and guardrails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data/campaign_brief.xlsx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Output contains campaign_id CMP-NS-001, at least three KPI contracts, one owner per KPI and a human-review flag.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Brief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Required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KPI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Needs Review?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Output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budget_sgd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start_date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end_date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risk_tier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brief_completeness = populated_required_fields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brief_completeness = populated_required_fields /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Missing owner or budget can cause unbounded spend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Required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Needs Review?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validated campaign object with objectives, KPI contracts, owners and guardrails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Output contains campaign_id CMP-NS-001, at least three KPI contracts, one owner per KPI and a human-review flag.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Missing owner or budget can cause unbounded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Output contains campaign_id CMP-NS-001, at least three KPI contracts, one owner per KPI and a human-review flag.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02 — Evidence Research &amp; Source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2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research evidence table with claim, source, recency, reliability and composite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data/research_sources.xlsx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accepted claim retains source_id, URL, published date and evidence_score; no rejected row reaches synthesis.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Research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Normalise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Score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Confidence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Accepted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source_id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published_date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claim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relevance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reliability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recency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evidence_score = relevance × reliability × recency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evidence_score = relevance × reliability × recency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Low-quality sources can contaminate every downstream asset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source_id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Normalise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Accepted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research evidence table with claim, source, recency, reliability and composite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accepted claim retains source_id, URL, published date and evidence_score; no rejected row reaches synthesis.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Low-quality sources can contaminate every downstream asset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Every accepted claim retains source_id, URL, published date and evidence_score; no rejected row reaches synthesis.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03 — Audience Signal Synthesis &amp; Opportunity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3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Ranked audience opportunities linked to evidence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data/audience_signals.xlsx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opportunity has evidence_ids, an ICE score and explicit supported status before strategy synthesis.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Audience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Evidence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Compute ICE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Rank Opportunities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Human Sense-check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signal_id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segment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trigger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confidence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ICE = impact × confidence /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ICE = impact × confidence /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AI-generated personas may encode stereotypes or unsupported claims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signal_id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Evidence Links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Human Sense-check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Ranked audience opportunities linked to evidence 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opportunity has evidence_ids, an ICE score and explicit supported status before strategy synthesis.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AI-generated personas may encode stereotypes or unsupported 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Every opportunity has evidence_ids, an ICE score and explicit supported status before strategy synthesis.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earch-intelligenc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Strategy, KPIs &amp; ROI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RACE/SOSTAC · objectives · channel economics · budget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LO1–LO2 · K1–K4 · A1–A4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Objective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Business outcome → marketing objective → channel KPI → event and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KPI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Name, formula, source, cadence, target, guardrail and action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Unit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CAC, LTV, contribution margin, ROAS and incremental ROI expose trade-offs.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Attribution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Last-click is observable but not causal; triangulate with experiments and holdouts.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Budget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Reallocate only when volume, confidence and guardrails exceed declared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Strategy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RACE describes the journey; SOSTAC governs planning and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Observed ROAS is not sufficient when confidence and assisted demand differ.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STRATEGY, KPIS &amp; ROI MODELS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04 — RACE/SOSTAC Strategy Synthesizer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4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strategy model connecting situation, objectives, audience, channels, tactics, actions and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data/strategy_model.xlsx · 7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All strategy decisions trace to evidence, map to RACE, include control fields and pass human strategy review.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RACE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SOSTAC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Alignment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kpi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review_date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alignment_rate = decisions_with_objective_and_owner / total_decisions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alignment_rate = decisions_with_objective_and_owner / total_decisions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 tactics can drift from the business objective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RACE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Strategy Draft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strategy model connecting situation, objectives, audience, channels, tactics, actions and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All strategy decisions trace to evidence, map to RACE, include control fields and pass human strategy review.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Channel tactics can drift from the business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All strategy decisions trace to evidence, map to RACE, include control fields and pass human strategy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05 — Channel Budget &amp; ROI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5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scenario model for CAC, ROAS, contribution margin and incremental ROI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data/channel_economics.xlsx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Calculated metrics match Excel formulas, low-volume scenarios are flagged and no allocation proceeds without reviewer_decision.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Channel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Calculate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Volume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Rank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Finance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spend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impressions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clicks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leads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customers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gross_margin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CAC = spend/customers; ROAS = revenue/spend; ROI = (revenue×margin−spend)/spend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CAC = spend/customers; ROAS = revenue/spend; ROI = (revenue×margin−spend)/spend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Optimising ROAS alone may cut channels that create assisted demand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 Economics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Finance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scenario model for CAC, ROAS, contribution margin and incremental ROI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Calculated metrics match Excel formulas, low-volume scenarios are flagged and no allocation proceeds without reviewer_decision.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Optimising ROAS alone may cut channels that create assisted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Calculated metrics match Excel formulas, low-volume scenarios are flagged and no allocation proceeds without reviewer_decision.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06 — Campaign Backlog &amp; Experiment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6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prioritised backlog with hypotheses, variants, sample thresholds and stop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data/campaign_backlog.xlsx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Each ready item has one falsifiable hypothesis, primary metric, minimum sample, stop rule and accountable owner.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Create Work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Experiment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Prioritise Backlog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Owner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item_id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hypothesis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primary_metric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minimum_sample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stop_rule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priority = expected_impact × confidence /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priority = expected_impact × confidence /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Automated testing without stop rules can expose audiences to harmful variants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item_id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Create Work Items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Owner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prioritised backlog with hypotheses, variants, sample thresholds and stop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Each ready item has one falsifiable hypothesis, primary metric, minimum sample, stop rule and accountable owner.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Automated testing without stop rules can expose audiences to harmful 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Each ready item has one falsifiable hypothesis, primary metric, minimum sample, stop rule and accountable owner.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mnichannel-hitl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Agentic Content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Brief contracts · generation · brand controls · reusable channel transformations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LO3 · K3/K5 · A4–A5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Content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canonical brief becomes channel-specific outputs through explicit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Prompt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System rules, evidence context, task, format and rejection conditions are separated.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Brand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Approved claims, tone rules and prohibited language are fetched before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Channel transform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same message is adapted to intent, format, length and CTA—not copied verbatim.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Quality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Schema, claim, tone, privacy and accessibility checks run before human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Idempotency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campaign-content key prevents duplicate generation when workflows retry.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Channel-specific transforms reduce rework.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AGENTIC CONTENT OPERATIONS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07 — Content Brief &amp; Prompt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7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versioned JSON content contract suitable for deterministic channel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data/content_brief.xlsx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approved contract includes evidence IDs, approved claims, prohibited terms, CTA, version and contract hash.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Backlog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Assemble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Schema 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Claim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Prompt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brief_id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audience_job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approved_claims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contract_valid = required_fields_present AND evidence_ids_resolved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contract_valid = required_fields_present AND evidence_ids_resolved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Unbounded prompts can invent claims or leak confidential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brief_id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Assemble Brief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Prompt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versioned JSON content contract suitable for deterministic channel generation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approved contract includes evidence IDs, approved claims, prohibited terms, CTA, version and contract hash.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Unbounded prompts can invent claims or leak confidential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The approved contract includes evidence IDs, approved claims, prohibited terms, CTA, version and contract hash.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08 — Multi-Channel Content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8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Website, email, LinkedIn, Instagram and short-video drafts with shared message lineage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data/content_matrix.xlsx · 7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approved brief produces distinct channel assets; every asset retains brief_id, evidence_ids and validation status.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Generate Canonical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Split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Apply Channel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Recombine Assets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format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max_chars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message_angle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channel_fit = passed_length AND required_fields AND approved_claims_only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channel_fit = passed_length AND required_fields AND approved_claims_only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Copying identical text across channels ignores audience intent and platform constraints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Generate Canonical Copy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Recombine Assets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Website, email, LinkedIn, Instagram and short-video drafts with shared message lineage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One approved brief produces distinct channel assets; every asset retains brief_id, evidence_ids and validation status.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Copying identical text across channels ignores audience intent and platform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One approved brief produces distinct channel assets; every asset retains brief_id, evidence_ids and validation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09 — Brand, Claim &amp; Compliance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9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QA report covering schema, brand, claims, privacy, accessibility and channel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data/brand_rules.xlsx · 6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 high-severity asset reaches approval; every medium-risk finding has category, evidence, owner and disposition.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Draft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Load Brand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Run Deterministic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Risk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Pass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rule_id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severity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qa_pass_rate = passed_rules / applicable_rules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qa_pass_rate = passed_rules / applicable_rules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AI self-review can miss the same hallucination made during generation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rule_id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Load Brand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Review Queue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QA report covering schema, brand, claims, privacy, accessibility and channel limits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high-severity asset reaches approval; every medium-risk finding has category, evidence, owner and disposition.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An AI self-review can miss the same hallucination made during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No high-severity asset reaches approval; every medium-risk finding has category, evidence, owner and disposition.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mnichannel-hitl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Human Oversight &amp; Omnichannel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Approval states · escalation · scheduling · social publishing ·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LO3 · K5 · 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DRAFT → REVIEW → APPROVED/REJECTED → SCHEDULED → PUBLISHED → MEASURED.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High-impact tool calls pause until an accountable reviewer approves the exact payload.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Separation of duties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authoring agent cannot self-approve or silently expand channel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Safe publishing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Dry-run payloads, idempotency keys and per-channel rate limits reduce blast radius.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Retry only transient errors; dead-letter permanent failures with evidence and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Auditability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version, payload hash and publication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funnel removes or remediates risk before publication.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HUMAN OVERSIGHT &amp; OMNICHANNEL PUBLISHING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Human Approval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10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approval request, tamper-evident decision record and state transition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data/approval_queue.xlsx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Only APPROVED records with a matching payload hash proceed; rejected and changed payloads cannot publish.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QA-Passed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Create Approval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Send Approval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Wait for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Verify Payload Hash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approval_id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payload_hash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reviewer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decision_at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comment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145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146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approval_integrity = decision_hash == current_payload_hash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approval_integrity = decision_hash == current_payload_hash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147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reviewer may approve one version while a changed payload is later published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148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approval_id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Create Approval 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approval request, tamper-evident decision record and state transition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Only APPROVED records with a matching payload hash proceed; rejected and changed payloads cannot publish.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149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reviewer may approve one version while a changed payload is later published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Only APPROVED records with a matching payload hash proceed; rejected and changed payloads cannot publish.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150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151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Social Publishing Dry-Run &amp; Idempotency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11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Validated dry-run payloads for LinkedIn, Instagram and webhook-based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data/publishing_queue.xlsx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Dry-run payload is channel-valid, approval-linked and idempotent; the credentialed live publisher remains disabled by default.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152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Channel Payload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Idempotency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Already Published?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Dry-Run Publisher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153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scheduled_at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idempotency_key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approval_id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dry_run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154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155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duplicate_rate = duplicate_attempts / publish_attempts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duplicate_rate = duplicate_attempts / publish_attempts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156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Retries can publish the same content multiple times or to the wrong account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157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publish_id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Channel Payload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Publication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Validated dry-run payloads for LinkedIn, Instagram and webhook-based channels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Dry-run payload is channel-valid, approval-linked and idempotent; the credentialed live publisher remains disabled by default.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158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Retries can publish the same content multiple times or to the wrong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Dry-run payload is channel-valid, approval-linked and idempotent; the credentialed live publisher remains disabled by default.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159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160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End-to-End Campaign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12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workflow that calls each stage, records state and stops safely on failure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data/orchestrator_runs.xlsx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successful run reaches PUBLISHED_DRY_RUN only after research, strategy, content, QA and approval succeed; failures stop downstream execution.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161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Campaign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Research Sub-workflow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Sub-workflow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Content Sub-workflow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QA Sub-workflow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162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run_id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started_at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ended_at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evidence_uri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error_code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163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164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stage_success_rate = successful_stages / attempted_stages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stage_success_rate = successful_stages / attempted_stages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165</a:t>
            </a:r>
          </a:p>
        </p:txBody>
      </p: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agent may continue after a failed or unapproved stage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166</a:t>
            </a:r>
          </a:p>
        </p:txBody>
      </p: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Research Sub-workflow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Run Ledger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workflow that calls each stage, records state and stops safely on failure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 successful run reaches PUBLISHED_DRY_RUN only after research, strategy, content, QA and approval succeed; failures stop downstream execution.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167</a:t>
            </a:r>
          </a:p>
        </p:txBody>
      </p: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parent agent may continue after a failed or unapproved 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 successful run reaches PUBLISHED_DRY_RUN only after research, strategy, content, QA and approval succeed; failures stop downstream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168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169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mnichannel-hitl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Performance Analytics &amp;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Event ingestion · attribution · ROI · anomaly detection · controlled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LO2 · K2/K4 · A3–A4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Event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campaign_id, channel, event, value, cost and timestamp join delivery to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171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Metric grain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 at campaign × channel × period before rolling up totals.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172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Incrementality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Optimisation recommendations distinguish correlation from controlled lift.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173</a:t>
            </a:r>
          </a:p>
        </p:txBody>
      </p:sp>
    </p:spTree>
  </p:cSld>
  <p:clrMapOvr>
    <a:masterClrMapping/>
  </p:clrMapOvr>
  <p:transition spd="fast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CPA, frequency, unsubscribe rate and brand-risk thresholds can override ROAS.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174</a:t>
            </a:r>
          </a:p>
        </p:txBody>
      </p: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Drift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Schema, volume and conversion-rate changes trigger investigation—not automatic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175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Learning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Evidence proposes a change; a human approves; the next experiment measures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176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Optimisation considers return and guardrail health; one spike is not causal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177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178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PERFORMANCE ANALYTICS &amp; OPTIMISATION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179</a:t>
            </a:r>
          </a:p>
        </p:txBody>
      </p:sp>
    </p:spTree>
  </p:cSld>
  <p:clrMapOvr>
    <a:masterClrMapping/>
  </p:clrMapOvr>
  <p:transition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180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Performance Event Ingestion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13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deduplicated fact table joined by campaign, asset, channel and event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data/performance_events.xlsx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All facts have unique event_id, valid campaign_id, normalised time and an explicit attribution rule or quarantine reason.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181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Mock Channel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Normalise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Deduplicate Event 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Join Campaign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Attribution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182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event_time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value_sgd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cost_sgd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183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184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data_quality = valid_unique_events / received_events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data_quality = valid_unique_events / received_events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185</a:t>
            </a:r>
          </a:p>
        </p:txBody>
      </p:sp>
    </p:spTree>
  </p:cSld>
  <p:clrMapOvr>
    <a:masterClrMapping/>
  </p:clrMapOvr>
  <p:transition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Inconsistent IDs and time zones can misattribute outcomes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186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event_id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Normalise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Performance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deduplicated fact table joined by campaign, asset, channel and event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All facts have unique event_id, valid campaign_id, normalised time and an explicit attribution rule or quarantine reason.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187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Inconsistent IDs and time zones can misattribute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All facts have unique event_id, valid campaign_id, normalised time and an explicit attribution rule or quarantine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188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189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ROI Dashboard &amp;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14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channel-period metric table with CAC, ROAS, ROI, confidence and anomaly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data/roi_dashboard.xlsx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Dashboard metrics match the formulas; anomalies include volume, baseline, guardrail status and analyst decision.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190</a:t>
            </a:r>
          </a:p>
        </p:txBody>
      </p:sp>
    </p:spTree>
  </p:cSld>
  <p:clrMapOvr>
    <a:masterClrMapping/>
  </p:clrMapOvr>
  <p:transition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Performance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Aggregate Channel-Period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Calculate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Compare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Guardrail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191</a:t>
            </a:r>
          </a:p>
        </p:txBody>
      </p:sp>
    </p:spTree>
  </p:cSld>
  <p:clrMapOvr>
    <a:masterClrMapping/>
  </p:clrMapOvr>
  <p:transition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gross_margin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baseline_cv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current_cv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192</a:t>
            </a:r>
          </a:p>
        </p:txBody>
      </p:sp>
    </p:spTree>
  </p:cSld>
  <p:clrMapOvr>
    <a:masterClrMapping/>
  </p:clrMapOvr>
  <p:transition spd="fast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193</a:t>
            </a:r>
          </a:p>
        </p:txBody>
      </p:sp>
    </p:spTree>
  </p:cSld>
  <p:clrMapOvr>
    <a:masterClrMapping/>
  </p:clrMapOvr>
  <p:transition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ROI = (revenue×gross_margin−spend)/spend; lift = (current−baseline)/baseline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ROI = (revenue×gross_margin−spend)/spend; lift = (current−baseline)/baseline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194</a:t>
            </a:r>
          </a:p>
        </p:txBody>
      </p:sp>
    </p:spTree>
  </p:cSld>
  <p:clrMapOvr>
    <a:masterClrMapping/>
  </p:clrMapOvr>
  <p:transition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Small samples can produce dramatic but unreliable lift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195</a:t>
            </a:r>
          </a:p>
        </p:txBody>
      </p:sp>
    </p:spTree>
  </p:cSld>
  <p:clrMapOvr>
    <a:masterClrMapping/>
  </p:clrMapOvr>
  <p:transition spd="fast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period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Aggregate Channel-Period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Dashboard Dataset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channel-period metric table with CAC, ROAS, ROI, confidence and anomaly flags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Dashboard metrics match the formulas; anomalies include volume, baseline, guardrail status and analyst decision.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196</a:t>
            </a:r>
          </a:p>
        </p:txBody>
      </p:sp>
    </p:spTree>
  </p:cSld>
  <p:clrMapOvr>
    <a:masterClrMapping/>
  </p:clrMapOvr>
  <p:transition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Small samples can produce dramatic but unreliable lift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Dashboard metrics match the formulas; anomalies include volume, baseline, guardrail status and analyst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197</a:t>
            </a:r>
          </a:p>
        </p:txBody>
      </p:sp>
    </p:spTree>
  </p:cSld>
  <p:clrMapOvr>
    <a:masterClrMapping/>
  </p:clrMapOvr>
  <p:transition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198</a:t>
            </a:r>
          </a:p>
        </p:txBody>
      </p:sp>
    </p:spTree>
  </p:cSld>
  <p:clrMapOvr>
    <a:masterClrMapping/>
  </p:clrMapOvr>
  <p:transition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Optimisation Feedback Loop &amp; Capstone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15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controlled recommendation, experiment update and approved next-cycle campaign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data/optimisation_actions.xlsx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 optimisation changes a live campaign automatically; approved recommendations create a measured next-cycle experiment with full lineage.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199</a:t>
            </a:r>
          </a:p>
        </p:txBody>
      </p:sp>
    </p:spTree>
  </p:cSld>
  <p:clrMapOvr>
    <a:masterClrMapping/>
  </p:clrMapOvr>
  <p:transition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Schedule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Latest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Generate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Policy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Human Optimisation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Experiment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200</a:t>
            </a:r>
          </a:p>
        </p:txBody>
      </p:sp>
    </p:spTree>
  </p:cSld>
  <p:clrMapOvr>
    <a:masterClrMapping/>
  </p:clrMapOvr>
  <p:transition spd="fast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action_id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finding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proposed_change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expected_impact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201</a:t>
            </a:r>
          </a:p>
        </p:txBody>
      </p:sp>
    </p:spTree>
  </p:cSld>
  <p:clrMapOvr>
    <a:masterClrMapping/>
  </p:clrMapOvr>
  <p:transition spd="fast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.0" y="3456432"/>
            <a:ext cx="182880.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202</a:t>
            </a:r>
          </a:p>
        </p:txBody>
      </p:sp>
    </p:spTree>
  </p:cSld>
  <p:clrMapOvr>
    <a:masterClrMapping/>
  </p:clrMapOvr>
  <p:transition spd="fast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realised_lift = (new_result−baseline)/baseline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realised_lift = (new_result−baseline)/baseline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203</a:t>
            </a:r>
          </a:p>
        </p:txBody>
      </p:sp>
    </p:spTree>
  </p:cSld>
  <p:clrMapOvr>
    <a:masterClrMapping/>
  </p:clrMapOvr>
  <p:transition spd="fast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self-optimising agent can chase short-term metrics and exceed delegated authority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204</a:t>
            </a:r>
          </a:p>
        </p:txBody>
      </p:sp>
    </p:spTree>
  </p:cSld>
  <p:clrMapOvr>
    <a:masterClrMapping/>
  </p:clrMapOvr>
  <p:transition spd="fast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action_id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Generate Recommendation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Update Backlog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controlled recommendation, experiment update and approved next-cycle campaign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optimisation changes a live campaign automatically; approved recommendations create a measured next-cycle experiment with full lineage.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205</a:t>
            </a:r>
          </a:p>
        </p:txBody>
      </p:sp>
    </p:spTree>
  </p:cSld>
  <p:clrMapOvr>
    <a:masterClrMapping/>
  </p:clrMapOvr>
  <p:transition spd="fast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self-optimising agent can chase short-term metrics and exceed delegated 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No optimisation changes a live campaign automatically; approved recommendations create a measured next-cycle experiment with full lineage.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206</a:t>
            </a:r>
          </a:p>
        </p:txBody>
      </p:sp>
    </p:spTree>
  </p:cSld>
  <p:clrMapOvr>
    <a:masterClrMapping/>
  </p:clrMapOvr>
  <p:transition spd="fast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207</a:t>
            </a:r>
          </a:p>
        </p:txBody>
      </p:sp>
    </p:spTree>
  </p:cSld>
  <p:clrMapOvr>
    <a:masterClrMapping/>
  </p:clrMapOvr>
  <p:transition spd="fast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END-TO-END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— Research to Social Publishing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1–3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4–6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7–9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Approve &amp;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10–12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Measure &amp; 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13–15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208</a:t>
            </a:r>
          </a:p>
        </p:txBody>
      </p:sp>
    </p:spTree>
  </p:cSld>
  <p:clrMapOvr>
    <a:masterClrMapping/>
  </p:clrMapOvr>
  <p:transition spd="fast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NATIVE PPT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campaign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Email and Search lead on contribution, but incrementality and volume still govern the next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209</a:t>
            </a:r>
          </a:p>
        </p:txBody>
      </p:sp>
    </p:spTree>
  </p:cSld>
  <p:clrMapOvr>
    <a:masterClrMapping/>
  </p:clrMapOvr>
  <p:transition spd="fast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SAFE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stop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Missing evidence, schema drift, rejected QA, payload hash mismatch, unavailable reviewer or channel error.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Stop downstream execution, write the failed state, preserve payload evidence and assign a human owner.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210</a:t>
            </a:r>
          </a:p>
        </p:txBody>
      </p:sp>
    </p:spTree>
  </p:cSld>
  <p:clrMapOvr>
    <a:masterClrMapping/>
  </p:clrMapOvr>
  <p:transition spd="fast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LO1–LO3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Evidence-led research with citation lineage.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RACE/SOSTAC, KPI contracts and ROI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Content, QA, approval and dry-run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Measured feedback without autonomous live mutation.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211</a:t>
            </a:r>
          </a:p>
        </p:txBody>
      </p:sp>
    </p:spTree>
  </p:cSld>
  <p:clrMapOvr>
    <a:masterClrMapping/>
  </p:clrMapOvr>
  <p:transition spd="fast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WA + 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mechanisms, fields, formulas and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workflow and mock Excel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Show execution evidence and checks.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Upload question papers through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212</a:t>
            </a:r>
          </a:p>
        </p:txBody>
      </p:sp>
    </p:spTree>
  </p:cSld>
  <p:clrMapOvr>
    <a:masterClrMapping/>
  </p:clrMapOvr>
  <p:transition spd="fast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CLOSING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survey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assessment QR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60 minutes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60 minutes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Upload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LMS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.0" y="3456432"/>
            <a:ext cx="182880.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summary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Answer keys remain trainer-only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213</a:t>
            </a:r>
          </a:p>
        </p:txBody>
      </p:sp>
    </p:spTree>
  </p:cSld>
  <p:clrMapOvr>
    <a:masterClrMapping/>
  </p:clrMapOvr>
  <p:transition spd="fast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TRAQOM ·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PM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Confirm final training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Scan the dedicated assessment QR.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TRAQOM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Complete course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Show confirmation if requested.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· TGS-2025056988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TGS 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214</a:t>
            </a:r>
          </a:p>
        </p:txBody>
      </p:sp>
    </p:spTree>
  </p:cSld>
  <p:clrMapOvr>
    <a:masterClrMapping/>
  </p:clrMapOvr>
  <p:transition spd="fast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10149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EF626C"/>
                </a:solidFill>
                <a:latin typeface="Aptos"/>
              </a:rPr>
              <a:t>Automate the workflow. Preserve human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Agentic AI for Digital Marketing · TGS-2025056988 · v2.0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